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slideLayouts/slideLayout9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changesInfos/changesInfo1.xml" ContentType="application/vnd.ms-powerpoint.changesinfo+xml"/>
  <Override PartName="/docProps/app.xml" ContentType="application/vnd.openxmlformats-officedocument.extended-properties+xml"/>
  <Override PartName="/docProps/core.xml" ContentType="application/vnd.openxmlformats-package.core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7"/>
  </p:notesMasterIdLst>
  <p:sldIdLst>
    <p:sldId id="256" r:id="rId2"/>
    <p:sldId id="313" r:id="rId3"/>
    <p:sldId id="293" r:id="rId4"/>
    <p:sldId id="295" r:id="rId5"/>
    <p:sldId id="297" r:id="rId6"/>
    <p:sldId id="314" r:id="rId7"/>
    <p:sldId id="299" r:id="rId8"/>
    <p:sldId id="300" r:id="rId9"/>
    <p:sldId id="298" r:id="rId10"/>
    <p:sldId id="307" r:id="rId11"/>
    <p:sldId id="308" r:id="rId12"/>
    <p:sldId id="309" r:id="rId13"/>
    <p:sldId id="310" r:id="rId14"/>
    <p:sldId id="312" r:id="rId15"/>
    <p:sldId id="31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09" autoAdjust="0"/>
    <p:restoredTop sz="93447" autoAdjust="0"/>
  </p:normalViewPr>
  <p:slideViewPr>
    <p:cSldViewPr snapToGrid="0">
      <p:cViewPr varScale="1">
        <p:scale>
          <a:sx n="62" d="100"/>
          <a:sy n="62" d="100"/>
        </p:scale>
        <p:origin x="42" y="329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customXml" Target="../customXml/item3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ustomXml" Target="../customXml/item2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customXml" Target="../customXml/item1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ikat Baul" userId="dae859d7-ea3e-4a5d-83a1-d953f3940120" providerId="ADAL" clId="{7AF214CD-E0DE-48B8-8F33-85F80140BCFB}"/>
    <pc:docChg chg="modSld sldOrd">
      <pc:chgData name="Saikat Baul" userId="dae859d7-ea3e-4a5d-83a1-d953f3940120" providerId="ADAL" clId="{7AF214CD-E0DE-48B8-8F33-85F80140BCFB}" dt="2025-03-15T14:35:10.931" v="1"/>
      <pc:docMkLst>
        <pc:docMk/>
      </pc:docMkLst>
      <pc:sldChg chg="ord">
        <pc:chgData name="Saikat Baul" userId="dae859d7-ea3e-4a5d-83a1-d953f3940120" providerId="ADAL" clId="{7AF214CD-E0DE-48B8-8F33-85F80140BCFB}" dt="2025-03-15T14:35:10.931" v="1"/>
        <pc:sldMkLst>
          <pc:docMk/>
          <pc:sldMk cId="3411684674" sldId="310"/>
        </pc:sldMkLst>
      </pc:sldChg>
    </pc:docChg>
  </pc:docChgLst>
  <pc:docChgLst>
    <pc:chgData name="MD. RAIHAN MAHMUD" userId="4a62f7df-4410-48f1-90fd-18890a1620a6" providerId="ADAL" clId="{E6A9731B-BF73-4583-80A8-4A1CA11ACDE6}"/>
    <pc:docChg chg="custSel modSld">
      <pc:chgData name="MD. RAIHAN MAHMUD" userId="4a62f7df-4410-48f1-90fd-18890a1620a6" providerId="ADAL" clId="{E6A9731B-BF73-4583-80A8-4A1CA11ACDE6}" dt="2025-10-29T09:24:26.751" v="35" actId="1076"/>
      <pc:docMkLst>
        <pc:docMk/>
      </pc:docMkLst>
      <pc:sldChg chg="delSp modSp mod">
        <pc:chgData name="MD. RAIHAN MAHMUD" userId="4a62f7df-4410-48f1-90fd-18890a1620a6" providerId="ADAL" clId="{E6A9731B-BF73-4583-80A8-4A1CA11ACDE6}" dt="2025-10-29T09:24:26.751" v="35" actId="1076"/>
        <pc:sldMkLst>
          <pc:docMk/>
          <pc:sldMk cId="2664565021" sldId="256"/>
        </pc:sldMkLst>
        <pc:spChg chg="del">
          <ac:chgData name="MD. RAIHAN MAHMUD" userId="4a62f7df-4410-48f1-90fd-18890a1620a6" providerId="ADAL" clId="{E6A9731B-BF73-4583-80A8-4A1CA11ACDE6}" dt="2025-10-29T09:24:20.469" v="33" actId="478"/>
          <ac:spMkLst>
            <pc:docMk/>
            <pc:sldMk cId="2664565021" sldId="256"/>
            <ac:spMk id="4" creationId="{A777D435-A5B1-F296-B90B-4CE6D7D1AC8D}"/>
          </ac:spMkLst>
        </pc:spChg>
        <pc:spChg chg="mod">
          <ac:chgData name="MD. RAIHAN MAHMUD" userId="4a62f7df-4410-48f1-90fd-18890a1620a6" providerId="ADAL" clId="{E6A9731B-BF73-4583-80A8-4A1CA11ACDE6}" dt="2025-10-29T09:24:26.751" v="35" actId="1076"/>
          <ac:spMkLst>
            <pc:docMk/>
            <pc:sldMk cId="2664565021" sldId="256"/>
            <ac:spMk id="24" creationId="{C2082529-78D7-4EA7-BFF9-A1D1F62040C8}"/>
          </ac:spMkLst>
        </pc:spChg>
        <pc:picChg chg="del">
          <ac:chgData name="MD. RAIHAN MAHMUD" userId="4a62f7df-4410-48f1-90fd-18890a1620a6" providerId="ADAL" clId="{E6A9731B-BF73-4583-80A8-4A1CA11ACDE6}" dt="2025-10-29T09:24:21.218" v="34" actId="478"/>
          <ac:picMkLst>
            <pc:docMk/>
            <pc:sldMk cId="2664565021" sldId="256"/>
            <ac:picMk id="2" creationId="{344270E6-900A-ECC5-70F8-9779BC90F146}"/>
          </ac:picMkLst>
        </pc:picChg>
      </pc:sldChg>
      <pc:sldChg chg="modSp">
        <pc:chgData name="MD. RAIHAN MAHMUD" userId="4a62f7df-4410-48f1-90fd-18890a1620a6" providerId="ADAL" clId="{E6A9731B-BF73-4583-80A8-4A1CA11ACDE6}" dt="2025-10-29T09:22:32.887" v="32"/>
        <pc:sldMkLst>
          <pc:docMk/>
          <pc:sldMk cId="3411684674" sldId="293"/>
        </pc:sldMkLst>
        <pc:spChg chg="mod">
          <ac:chgData name="MD. RAIHAN MAHMUD" userId="4a62f7df-4410-48f1-90fd-18890a1620a6" providerId="ADAL" clId="{E6A9731B-BF73-4583-80A8-4A1CA11ACDE6}" dt="2025-10-29T09:22:32.887" v="32"/>
          <ac:spMkLst>
            <pc:docMk/>
            <pc:sldMk cId="3411684674" sldId="293"/>
            <ac:spMk id="4" creationId="{97933A36-B0B5-9997-56BC-6D0BBA0D031E}"/>
          </ac:spMkLst>
        </pc:spChg>
      </pc:sldChg>
      <pc:sldChg chg="modSp">
        <pc:chgData name="MD. RAIHAN MAHMUD" userId="4a62f7df-4410-48f1-90fd-18890a1620a6" providerId="ADAL" clId="{E6A9731B-BF73-4583-80A8-4A1CA11ACDE6}" dt="2025-10-29T09:22:32.887" v="32"/>
        <pc:sldMkLst>
          <pc:docMk/>
          <pc:sldMk cId="3411684674" sldId="295"/>
        </pc:sldMkLst>
        <pc:spChg chg="mod">
          <ac:chgData name="MD. RAIHAN MAHMUD" userId="4a62f7df-4410-48f1-90fd-18890a1620a6" providerId="ADAL" clId="{E6A9731B-BF73-4583-80A8-4A1CA11ACDE6}" dt="2025-10-29T09:22:32.887" v="32"/>
          <ac:spMkLst>
            <pc:docMk/>
            <pc:sldMk cId="3411684674" sldId="295"/>
            <ac:spMk id="4" creationId="{1761616C-BB6C-0C2A-8ED0-3C10F599C6DD}"/>
          </ac:spMkLst>
        </pc:spChg>
      </pc:sldChg>
      <pc:sldChg chg="modSp">
        <pc:chgData name="MD. RAIHAN MAHMUD" userId="4a62f7df-4410-48f1-90fd-18890a1620a6" providerId="ADAL" clId="{E6A9731B-BF73-4583-80A8-4A1CA11ACDE6}" dt="2025-10-29T09:22:32.887" v="32"/>
        <pc:sldMkLst>
          <pc:docMk/>
          <pc:sldMk cId="3411684674" sldId="297"/>
        </pc:sldMkLst>
        <pc:spChg chg="mod">
          <ac:chgData name="MD. RAIHAN MAHMUD" userId="4a62f7df-4410-48f1-90fd-18890a1620a6" providerId="ADAL" clId="{E6A9731B-BF73-4583-80A8-4A1CA11ACDE6}" dt="2025-10-29T09:22:32.887" v="32"/>
          <ac:spMkLst>
            <pc:docMk/>
            <pc:sldMk cId="3411684674" sldId="297"/>
            <ac:spMk id="4" creationId="{68BC0F1A-8886-94B9-3267-48CF1CC23CFD}"/>
          </ac:spMkLst>
        </pc:spChg>
      </pc:sldChg>
      <pc:sldChg chg="modSp">
        <pc:chgData name="MD. RAIHAN MAHMUD" userId="4a62f7df-4410-48f1-90fd-18890a1620a6" providerId="ADAL" clId="{E6A9731B-BF73-4583-80A8-4A1CA11ACDE6}" dt="2025-10-29T09:22:32.887" v="32"/>
        <pc:sldMkLst>
          <pc:docMk/>
          <pc:sldMk cId="3411684674" sldId="298"/>
        </pc:sldMkLst>
        <pc:spChg chg="mod">
          <ac:chgData name="MD. RAIHAN MAHMUD" userId="4a62f7df-4410-48f1-90fd-18890a1620a6" providerId="ADAL" clId="{E6A9731B-BF73-4583-80A8-4A1CA11ACDE6}" dt="2025-10-29T09:22:32.887" v="32"/>
          <ac:spMkLst>
            <pc:docMk/>
            <pc:sldMk cId="3411684674" sldId="298"/>
            <ac:spMk id="7" creationId="{BA1A92BF-C439-B5DA-6DA8-60F0A561BFD3}"/>
          </ac:spMkLst>
        </pc:spChg>
      </pc:sldChg>
      <pc:sldChg chg="modSp">
        <pc:chgData name="MD. RAIHAN MAHMUD" userId="4a62f7df-4410-48f1-90fd-18890a1620a6" providerId="ADAL" clId="{E6A9731B-BF73-4583-80A8-4A1CA11ACDE6}" dt="2025-10-29T09:22:32.887" v="32"/>
        <pc:sldMkLst>
          <pc:docMk/>
          <pc:sldMk cId="3411684674" sldId="299"/>
        </pc:sldMkLst>
        <pc:spChg chg="mod">
          <ac:chgData name="MD. RAIHAN MAHMUD" userId="4a62f7df-4410-48f1-90fd-18890a1620a6" providerId="ADAL" clId="{E6A9731B-BF73-4583-80A8-4A1CA11ACDE6}" dt="2025-10-29T09:22:32.887" v="32"/>
          <ac:spMkLst>
            <pc:docMk/>
            <pc:sldMk cId="3411684674" sldId="299"/>
            <ac:spMk id="4" creationId="{443F4437-BB4E-D0B6-96B1-1E9871A28BF5}"/>
          </ac:spMkLst>
        </pc:spChg>
      </pc:sldChg>
      <pc:sldChg chg="modSp">
        <pc:chgData name="MD. RAIHAN MAHMUD" userId="4a62f7df-4410-48f1-90fd-18890a1620a6" providerId="ADAL" clId="{E6A9731B-BF73-4583-80A8-4A1CA11ACDE6}" dt="2025-10-29T09:22:32.887" v="32"/>
        <pc:sldMkLst>
          <pc:docMk/>
          <pc:sldMk cId="3411684674" sldId="300"/>
        </pc:sldMkLst>
        <pc:spChg chg="mod">
          <ac:chgData name="MD. RAIHAN MAHMUD" userId="4a62f7df-4410-48f1-90fd-18890a1620a6" providerId="ADAL" clId="{E6A9731B-BF73-4583-80A8-4A1CA11ACDE6}" dt="2025-10-29T09:22:32.887" v="32"/>
          <ac:spMkLst>
            <pc:docMk/>
            <pc:sldMk cId="3411684674" sldId="300"/>
            <ac:spMk id="4" creationId="{71A5527B-1A92-9FCD-F5D8-1A8423289D66}"/>
          </ac:spMkLst>
        </pc:spChg>
      </pc:sldChg>
      <pc:sldChg chg="modSp">
        <pc:chgData name="MD. RAIHAN MAHMUD" userId="4a62f7df-4410-48f1-90fd-18890a1620a6" providerId="ADAL" clId="{E6A9731B-BF73-4583-80A8-4A1CA11ACDE6}" dt="2025-10-29T09:22:32.887" v="32"/>
        <pc:sldMkLst>
          <pc:docMk/>
          <pc:sldMk cId="3411684674" sldId="307"/>
        </pc:sldMkLst>
        <pc:spChg chg="mod">
          <ac:chgData name="MD. RAIHAN MAHMUD" userId="4a62f7df-4410-48f1-90fd-18890a1620a6" providerId="ADAL" clId="{E6A9731B-BF73-4583-80A8-4A1CA11ACDE6}" dt="2025-10-29T09:22:32.887" v="32"/>
          <ac:spMkLst>
            <pc:docMk/>
            <pc:sldMk cId="3411684674" sldId="307"/>
            <ac:spMk id="4" creationId="{F6A708E2-E46B-4881-38E6-B24187D0FB1B}"/>
          </ac:spMkLst>
        </pc:spChg>
      </pc:sldChg>
      <pc:sldChg chg="modSp">
        <pc:chgData name="MD. RAIHAN MAHMUD" userId="4a62f7df-4410-48f1-90fd-18890a1620a6" providerId="ADAL" clId="{E6A9731B-BF73-4583-80A8-4A1CA11ACDE6}" dt="2025-10-29T09:22:32.887" v="32"/>
        <pc:sldMkLst>
          <pc:docMk/>
          <pc:sldMk cId="3411684674" sldId="308"/>
        </pc:sldMkLst>
        <pc:spChg chg="mod">
          <ac:chgData name="MD. RAIHAN MAHMUD" userId="4a62f7df-4410-48f1-90fd-18890a1620a6" providerId="ADAL" clId="{E6A9731B-BF73-4583-80A8-4A1CA11ACDE6}" dt="2025-10-29T09:22:32.887" v="32"/>
          <ac:spMkLst>
            <pc:docMk/>
            <pc:sldMk cId="3411684674" sldId="308"/>
            <ac:spMk id="4" creationId="{886BA8D7-B2BF-878A-7F0C-E10F2B006CC1}"/>
          </ac:spMkLst>
        </pc:spChg>
      </pc:sldChg>
      <pc:sldChg chg="modSp">
        <pc:chgData name="MD. RAIHAN MAHMUD" userId="4a62f7df-4410-48f1-90fd-18890a1620a6" providerId="ADAL" clId="{E6A9731B-BF73-4583-80A8-4A1CA11ACDE6}" dt="2025-10-29T09:22:32.887" v="32"/>
        <pc:sldMkLst>
          <pc:docMk/>
          <pc:sldMk cId="3411684674" sldId="309"/>
        </pc:sldMkLst>
        <pc:spChg chg="mod">
          <ac:chgData name="MD. RAIHAN MAHMUD" userId="4a62f7df-4410-48f1-90fd-18890a1620a6" providerId="ADAL" clId="{E6A9731B-BF73-4583-80A8-4A1CA11ACDE6}" dt="2025-10-29T09:22:32.887" v="32"/>
          <ac:spMkLst>
            <pc:docMk/>
            <pc:sldMk cId="3411684674" sldId="309"/>
            <ac:spMk id="4" creationId="{0DC9FB57-00F2-D2E7-4EC6-9EE8E146CDE7}"/>
          </ac:spMkLst>
        </pc:spChg>
      </pc:sldChg>
      <pc:sldChg chg="modSp">
        <pc:chgData name="MD. RAIHAN MAHMUD" userId="4a62f7df-4410-48f1-90fd-18890a1620a6" providerId="ADAL" clId="{E6A9731B-BF73-4583-80A8-4A1CA11ACDE6}" dt="2025-10-29T09:22:32.887" v="32"/>
        <pc:sldMkLst>
          <pc:docMk/>
          <pc:sldMk cId="3411684674" sldId="310"/>
        </pc:sldMkLst>
        <pc:spChg chg="mod">
          <ac:chgData name="MD. RAIHAN MAHMUD" userId="4a62f7df-4410-48f1-90fd-18890a1620a6" providerId="ADAL" clId="{E6A9731B-BF73-4583-80A8-4A1CA11ACDE6}" dt="2025-10-29T09:22:32.887" v="32"/>
          <ac:spMkLst>
            <pc:docMk/>
            <pc:sldMk cId="3411684674" sldId="310"/>
            <ac:spMk id="4" creationId="{6BDEC8BA-A092-BA65-E675-604AB01E18B5}"/>
          </ac:spMkLst>
        </pc:spChg>
      </pc:sldChg>
      <pc:sldChg chg="modSp">
        <pc:chgData name="MD. RAIHAN MAHMUD" userId="4a62f7df-4410-48f1-90fd-18890a1620a6" providerId="ADAL" clId="{E6A9731B-BF73-4583-80A8-4A1CA11ACDE6}" dt="2025-10-29T09:22:32.887" v="32"/>
        <pc:sldMkLst>
          <pc:docMk/>
          <pc:sldMk cId="64039236" sldId="311"/>
        </pc:sldMkLst>
        <pc:spChg chg="mod">
          <ac:chgData name="MD. RAIHAN MAHMUD" userId="4a62f7df-4410-48f1-90fd-18890a1620a6" providerId="ADAL" clId="{E6A9731B-BF73-4583-80A8-4A1CA11ACDE6}" dt="2025-10-29T09:22:32.887" v="32"/>
          <ac:spMkLst>
            <pc:docMk/>
            <pc:sldMk cId="64039236" sldId="311"/>
            <ac:spMk id="4" creationId="{25312C3B-B9B9-5739-8FF4-272BFD29E158}"/>
          </ac:spMkLst>
        </pc:spChg>
      </pc:sldChg>
      <pc:sldChg chg="modSp">
        <pc:chgData name="MD. RAIHAN MAHMUD" userId="4a62f7df-4410-48f1-90fd-18890a1620a6" providerId="ADAL" clId="{E6A9731B-BF73-4583-80A8-4A1CA11ACDE6}" dt="2025-10-29T09:22:32.887" v="32"/>
        <pc:sldMkLst>
          <pc:docMk/>
          <pc:sldMk cId="2980895392" sldId="312"/>
        </pc:sldMkLst>
        <pc:spChg chg="mod">
          <ac:chgData name="MD. RAIHAN MAHMUD" userId="4a62f7df-4410-48f1-90fd-18890a1620a6" providerId="ADAL" clId="{E6A9731B-BF73-4583-80A8-4A1CA11ACDE6}" dt="2025-10-29T09:22:32.887" v="32"/>
          <ac:spMkLst>
            <pc:docMk/>
            <pc:sldMk cId="2980895392" sldId="312"/>
            <ac:spMk id="6" creationId="{00000000-0000-0000-0000-000000000000}"/>
          </ac:spMkLst>
        </pc:spChg>
      </pc:sldChg>
      <pc:sldChg chg="modSp">
        <pc:chgData name="MD. RAIHAN MAHMUD" userId="4a62f7df-4410-48f1-90fd-18890a1620a6" providerId="ADAL" clId="{E6A9731B-BF73-4583-80A8-4A1CA11ACDE6}" dt="2025-10-29T09:22:32.887" v="32"/>
        <pc:sldMkLst>
          <pc:docMk/>
          <pc:sldMk cId="1641042918" sldId="313"/>
        </pc:sldMkLst>
        <pc:spChg chg="mod">
          <ac:chgData name="MD. RAIHAN MAHMUD" userId="4a62f7df-4410-48f1-90fd-18890a1620a6" providerId="ADAL" clId="{E6A9731B-BF73-4583-80A8-4A1CA11ACDE6}" dt="2025-10-29T09:22:32.887" v="32"/>
          <ac:spMkLst>
            <pc:docMk/>
            <pc:sldMk cId="1641042918" sldId="313"/>
            <ac:spMk id="4" creationId="{EB11A590-4A62-E828-3EFD-C053B34D4D04}"/>
          </ac:spMkLst>
        </pc:spChg>
      </pc:sldChg>
    </pc:docChg>
  </pc:docChgLst>
  <pc:docChgLst>
    <pc:chgData name="Saikat Baul" userId="dae859d7-ea3e-4a5d-83a1-d953f3940120" providerId="ADAL" clId="{C6A6FCEC-4417-450F-BCDE-5CA5509732F0}"/>
    <pc:docChg chg="undo redo custSel modSld">
      <pc:chgData name="Saikat Baul" userId="dae859d7-ea3e-4a5d-83a1-d953f3940120" providerId="ADAL" clId="{C6A6FCEC-4417-450F-BCDE-5CA5509732F0}" dt="2025-03-03T14:04:58.450" v="149"/>
      <pc:docMkLst>
        <pc:docMk/>
      </pc:docMkLst>
      <pc:sldChg chg="modSp mod">
        <pc:chgData name="Saikat Baul" userId="dae859d7-ea3e-4a5d-83a1-d953f3940120" providerId="ADAL" clId="{C6A6FCEC-4417-450F-BCDE-5CA5509732F0}" dt="2025-03-01T08:35:44.127" v="22" actId="120"/>
        <pc:sldMkLst>
          <pc:docMk/>
          <pc:sldMk cId="2664565021" sldId="256"/>
        </pc:sldMkLst>
        <pc:spChg chg="mod">
          <ac:chgData name="Saikat Baul" userId="dae859d7-ea3e-4a5d-83a1-d953f3940120" providerId="ADAL" clId="{C6A6FCEC-4417-450F-BCDE-5CA5509732F0}" dt="2025-03-01T08:35:44.127" v="22" actId="120"/>
          <ac:spMkLst>
            <pc:docMk/>
            <pc:sldMk cId="2664565021" sldId="256"/>
            <ac:spMk id="24" creationId="{C2082529-78D7-4EA7-BFF9-A1D1F62040C8}"/>
          </ac:spMkLst>
        </pc:spChg>
      </pc:sldChg>
      <pc:sldChg chg="delSp mod">
        <pc:chgData name="Saikat Baul" userId="dae859d7-ea3e-4a5d-83a1-d953f3940120" providerId="ADAL" clId="{C6A6FCEC-4417-450F-BCDE-5CA5509732F0}" dt="2025-03-02T07:29:06.968" v="24" actId="478"/>
        <pc:sldMkLst>
          <pc:docMk/>
          <pc:sldMk cId="3411684674" sldId="298"/>
        </pc:sldMkLst>
      </pc:sldChg>
      <pc:sldChg chg="delSp mod">
        <pc:chgData name="Saikat Baul" userId="dae859d7-ea3e-4a5d-83a1-d953f3940120" providerId="ADAL" clId="{C6A6FCEC-4417-450F-BCDE-5CA5509732F0}" dt="2025-03-02T07:28:42.103" v="23" actId="478"/>
        <pc:sldMkLst>
          <pc:docMk/>
          <pc:sldMk cId="3411684674" sldId="301"/>
        </pc:sldMkLst>
      </pc:sldChg>
      <pc:sldChg chg="delSp mod">
        <pc:chgData name="Saikat Baul" userId="dae859d7-ea3e-4a5d-83a1-d953f3940120" providerId="ADAL" clId="{C6A6FCEC-4417-450F-BCDE-5CA5509732F0}" dt="2025-03-02T07:29:12.017" v="25" actId="478"/>
        <pc:sldMkLst>
          <pc:docMk/>
          <pc:sldMk cId="3411684674" sldId="302"/>
        </pc:sldMkLst>
      </pc:sldChg>
      <pc:sldChg chg="delSp mod">
        <pc:chgData name="Saikat Baul" userId="dae859d7-ea3e-4a5d-83a1-d953f3940120" providerId="ADAL" clId="{C6A6FCEC-4417-450F-BCDE-5CA5509732F0}" dt="2025-03-02T07:29:16.114" v="26" actId="478"/>
        <pc:sldMkLst>
          <pc:docMk/>
          <pc:sldMk cId="3411684674" sldId="303"/>
        </pc:sldMkLst>
      </pc:sldChg>
      <pc:sldChg chg="delSp mod">
        <pc:chgData name="Saikat Baul" userId="dae859d7-ea3e-4a5d-83a1-d953f3940120" providerId="ADAL" clId="{C6A6FCEC-4417-450F-BCDE-5CA5509732F0}" dt="2025-03-02T07:29:20.617" v="27" actId="478"/>
        <pc:sldMkLst>
          <pc:docMk/>
          <pc:sldMk cId="3411684674" sldId="305"/>
        </pc:sldMkLst>
      </pc:sldChg>
      <pc:sldChg chg="modSp mod">
        <pc:chgData name="Saikat Baul" userId="dae859d7-ea3e-4a5d-83a1-d953f3940120" providerId="ADAL" clId="{C6A6FCEC-4417-450F-BCDE-5CA5509732F0}" dt="2025-03-03T13:51:46.327" v="97" actId="20577"/>
        <pc:sldMkLst>
          <pc:docMk/>
          <pc:sldMk cId="3411684674" sldId="306"/>
        </pc:sldMkLst>
        <pc:spChg chg="mod">
          <ac:chgData name="Saikat Baul" userId="dae859d7-ea3e-4a5d-83a1-d953f3940120" providerId="ADAL" clId="{C6A6FCEC-4417-450F-BCDE-5CA5509732F0}" dt="2025-03-03T13:51:46.327" v="97" actId="20577"/>
          <ac:spMkLst>
            <pc:docMk/>
            <pc:sldMk cId="3411684674" sldId="306"/>
            <ac:spMk id="3" creationId="{00000000-0000-0000-0000-000000000000}"/>
          </ac:spMkLst>
        </pc:spChg>
      </pc:sldChg>
      <pc:sldChg chg="modSp mod">
        <pc:chgData name="Saikat Baul" userId="dae859d7-ea3e-4a5d-83a1-d953f3940120" providerId="ADAL" clId="{C6A6FCEC-4417-450F-BCDE-5CA5509732F0}" dt="2025-03-03T13:59:08.010" v="135" actId="20577"/>
        <pc:sldMkLst>
          <pc:docMk/>
          <pc:sldMk cId="3411684674" sldId="307"/>
        </pc:sldMkLst>
        <pc:spChg chg="mod">
          <ac:chgData name="Saikat Baul" userId="dae859d7-ea3e-4a5d-83a1-d953f3940120" providerId="ADAL" clId="{C6A6FCEC-4417-450F-BCDE-5CA5509732F0}" dt="2025-03-03T13:59:08.010" v="135" actId="20577"/>
          <ac:spMkLst>
            <pc:docMk/>
            <pc:sldMk cId="3411684674" sldId="307"/>
            <ac:spMk id="3" creationId="{00000000-0000-0000-0000-000000000000}"/>
          </ac:spMkLst>
        </pc:spChg>
      </pc:sldChg>
      <pc:sldChg chg="modSp mod">
        <pc:chgData name="Saikat Baul" userId="dae859d7-ea3e-4a5d-83a1-d953f3940120" providerId="ADAL" clId="{C6A6FCEC-4417-450F-BCDE-5CA5509732F0}" dt="2025-03-03T14:00:11.833" v="137" actId="20577"/>
        <pc:sldMkLst>
          <pc:docMk/>
          <pc:sldMk cId="3411684674" sldId="308"/>
        </pc:sldMkLst>
        <pc:spChg chg="mod">
          <ac:chgData name="Saikat Baul" userId="dae859d7-ea3e-4a5d-83a1-d953f3940120" providerId="ADAL" clId="{C6A6FCEC-4417-450F-BCDE-5CA5509732F0}" dt="2025-03-03T14:00:11.833" v="137" actId="20577"/>
          <ac:spMkLst>
            <pc:docMk/>
            <pc:sldMk cId="3411684674" sldId="308"/>
            <ac:spMk id="3" creationId="{00000000-0000-0000-0000-000000000000}"/>
          </ac:spMkLst>
        </pc:spChg>
      </pc:sldChg>
      <pc:sldChg chg="modSp mod">
        <pc:chgData name="Saikat Baul" userId="dae859d7-ea3e-4a5d-83a1-d953f3940120" providerId="ADAL" clId="{C6A6FCEC-4417-450F-BCDE-5CA5509732F0}" dt="2025-03-03T14:04:58.450" v="149"/>
        <pc:sldMkLst>
          <pc:docMk/>
          <pc:sldMk cId="3411684674" sldId="310"/>
        </pc:sldMkLst>
        <pc:spChg chg="mod">
          <ac:chgData name="Saikat Baul" userId="dae859d7-ea3e-4a5d-83a1-d953f3940120" providerId="ADAL" clId="{C6A6FCEC-4417-450F-BCDE-5CA5509732F0}" dt="2025-03-03T14:02:44.495" v="148" actId="313"/>
          <ac:spMkLst>
            <pc:docMk/>
            <pc:sldMk cId="3411684674" sldId="310"/>
            <ac:spMk id="2" creationId="{00000000-0000-0000-0000-000000000000}"/>
          </ac:spMkLst>
        </pc:spChg>
        <pc:spChg chg="mod">
          <ac:chgData name="Saikat Baul" userId="dae859d7-ea3e-4a5d-83a1-d953f3940120" providerId="ADAL" clId="{C6A6FCEC-4417-450F-BCDE-5CA5509732F0}" dt="2025-03-03T14:04:58.450" v="149"/>
          <ac:spMkLst>
            <pc:docMk/>
            <pc:sldMk cId="3411684674" sldId="310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210FD6-79C5-4041-8E7A-89350618D070}" type="datetimeFigureOut">
              <a:rPr lang="en-GB" smtClean="0"/>
              <a:pPr/>
              <a:t>07/02/2026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26CA59-B645-4A00-A667-3A942CDB8E2D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805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E26CA59-B645-4A00-A667-3A942CDB8E2D}" type="slidenum">
              <a:rPr lang="en-GB" smtClean="0"/>
              <a:pPr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45053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9B23E7-B30D-2BFF-95D0-3721675F1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C119FA-F709-49A8-A58E-F227B09E9A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7ED91D-882A-8595-E3DC-70CF9729F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044CF-4768-6FA5-EB94-97DB7CC1BC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26CA59-B645-4A00-A667-3A942CDB8E2D}" type="slidenum">
              <a:rPr lang="en-GB" smtClean="0"/>
              <a:pPr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68080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26CA59-B645-4A00-A667-3A942CDB8E2D}" type="slidenum">
              <a:rPr lang="en-GB" smtClean="0"/>
              <a:pPr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07955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26CA59-B645-4A00-A667-3A942CDB8E2D}" type="slidenum">
              <a:rPr lang="en-GB" smtClean="0"/>
              <a:pPr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903213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4FFDFDB9-D628-4A18-8BA7-33EF406917E6}" type="datetime1">
              <a:rPr lang="en-US" smtClean="0"/>
              <a:pPr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DDDB41-4229-47AF-BA03-C191A66FB94C}" type="datetime1">
              <a:rPr lang="en-US" smtClean="0"/>
              <a:pPr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C08422A-3B8F-4FAB-94E1-75E89E1391CC}" type="datetime1">
              <a:rPr lang="en-US" smtClean="0"/>
              <a:pPr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7392D4-64E7-470C-9229-F729BA72710A}" type="datetime1">
              <a:rPr lang="en-US" smtClean="0"/>
              <a:pPr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ECD79C-F41C-4E95-A4BE-2712B8C4A412}" type="datetime1">
              <a:rPr lang="en-US" smtClean="0"/>
              <a:pPr/>
              <a:t>2/7/2026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AAE8F3-6A5D-412D-87FA-D951F64E80C1}" type="datetime1">
              <a:rPr lang="en-US" smtClean="0"/>
              <a:pPr/>
              <a:t>2/7/2026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0F486A-D265-402A-B6CD-5D626FC3EDC7}" type="datetime1">
              <a:rPr lang="en-US" smtClean="0"/>
              <a:pPr/>
              <a:t>2/7/2026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C7416B92-2D29-4309-8FD4-8EC023BBFD61}" type="datetime1">
              <a:rPr lang="en-US" smtClean="0"/>
              <a:pPr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484BAD-8657-4978-A2B2-B1BBE7089EFE}" type="datetime1">
              <a:rPr lang="en-US" smtClean="0"/>
              <a:pPr/>
              <a:t>2/7/2026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B11AF3-EEF6-43B0-9CB4-662539EFD2B2}" type="datetime1">
              <a:rPr lang="en-US" smtClean="0"/>
              <a:pPr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071272FE-5A2D-492A-8166-5DAA8B18B7EA}" type="datetime1">
              <a:rPr lang="en-US" smtClean="0"/>
              <a:pPr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46415B1-2572-4F4E-AFA0-B4063C44FA40}" type="datetime1">
              <a:rPr lang="en-US" smtClean="0"/>
              <a:pPr/>
              <a:t>2/7/2026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ahammadmejbah@aiub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9AA9F65-94B8-41A5-A7FF-23D2CFB11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8B0F8E-3F6C-4541-B9C1-774D80A088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A45F5BC-32D1-41CD-B270-C46F18CA1A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E57EE13-72B0-4FFA-ACE1-EBDE89340E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DA182162-B517-4B41-B039-339F87FAE1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9B5AD54-1E68-4239-A6AF-FE0F49BB8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593336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>
          <a:xfrm>
            <a:off x="768267" y="1009397"/>
            <a:ext cx="3078342" cy="480146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400">
                <a:solidFill>
                  <a:srgbClr val="FFFFFF"/>
                </a:solidFill>
              </a:rPr>
              <a:t>Software engineering (Undergraduate)</a:t>
            </a:r>
          </a:p>
        </p:txBody>
      </p:sp>
      <p:sp>
        <p:nvSpPr>
          <p:cNvPr id="13" name="Rectangle 7">
            <a:extLst>
              <a:ext uri="{FF2B5EF4-FFF2-40B4-BE49-F238E27FC236}">
                <a16:creationId xmlns:a16="http://schemas.microsoft.com/office/drawing/2014/main" id="{71131479-3A67-4241-BA19-63C61B2AD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9">
            <a:extLst>
              <a:ext uri="{FF2B5EF4-FFF2-40B4-BE49-F238E27FC236}">
                <a16:creationId xmlns:a16="http://schemas.microsoft.com/office/drawing/2014/main" id="{D71187A8-1267-46DA-BD99-56CA1E3D48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 11">
            <a:extLst>
              <a:ext uri="{FF2B5EF4-FFF2-40B4-BE49-F238E27FC236}">
                <a16:creationId xmlns:a16="http://schemas.microsoft.com/office/drawing/2014/main" id="{BC2278FC-331B-4EF7-9D0D-AA0D349A21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9" name="Rectangle 13">
            <a:extLst>
              <a:ext uri="{FF2B5EF4-FFF2-40B4-BE49-F238E27FC236}">
                <a16:creationId xmlns:a16="http://schemas.microsoft.com/office/drawing/2014/main" id="{807A075E-21A0-4954-BEA3-22C78E6FA4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 useBgFill="1">
        <p:nvSpPr>
          <p:cNvPr id="20" name="Rectangle 15">
            <a:extLst>
              <a:ext uri="{FF2B5EF4-FFF2-40B4-BE49-F238E27FC236}">
                <a16:creationId xmlns:a16="http://schemas.microsoft.com/office/drawing/2014/main" id="{F58081DC-3CFD-4290-87AE-164515084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17">
            <a:extLst>
              <a:ext uri="{FF2B5EF4-FFF2-40B4-BE49-F238E27FC236}">
                <a16:creationId xmlns:a16="http://schemas.microsoft.com/office/drawing/2014/main" id="{F6FC796D-883B-4149-9128-47B4179B3B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457200"/>
            <a:ext cx="3703320" cy="593336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Subtitle 2">
            <a:extLst>
              <a:ext uri="{FF2B5EF4-FFF2-40B4-BE49-F238E27FC236}">
                <a16:creationId xmlns:a16="http://schemas.microsoft.com/office/drawing/2014/main" id="{76B6F65C-6B4A-4901-8A96-CE7330250469}"/>
              </a:ext>
            </a:extLst>
          </p:cNvPr>
          <p:cNvSpPr txBox="1">
            <a:spLocks/>
          </p:cNvSpPr>
          <p:nvPr/>
        </p:nvSpPr>
        <p:spPr>
          <a:xfrm>
            <a:off x="768267" y="1009397"/>
            <a:ext cx="3078342" cy="48014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Wingdings 2" panose="05020102010507070707" pitchFamily="18" charset="2"/>
              <a:buNone/>
            </a:pPr>
            <a:r>
              <a:rPr lang="en-US" sz="2400" u="sng" cap="all" dirty="0">
                <a:solidFill>
                  <a:srgbClr val="FFFFFF"/>
                </a:solidFill>
              </a:rPr>
              <a:t>Course Name</a:t>
            </a:r>
            <a:br>
              <a:rPr lang="en-US" sz="2400" cap="all" dirty="0">
                <a:solidFill>
                  <a:srgbClr val="FFFFFF"/>
                </a:solidFill>
              </a:rPr>
            </a:br>
            <a:br>
              <a:rPr lang="en-US" sz="2400" cap="all" dirty="0">
                <a:solidFill>
                  <a:srgbClr val="FFFFFF"/>
                </a:solidFill>
              </a:rPr>
            </a:br>
            <a:r>
              <a:rPr lang="en-US" sz="2400" cap="all" dirty="0">
                <a:solidFill>
                  <a:srgbClr val="FFFFFF"/>
                </a:solidFill>
              </a:rPr>
              <a:t>software engineering</a:t>
            </a:r>
          </a:p>
          <a:p>
            <a:pPr marL="0" indent="0" algn="ctr">
              <a:buFont typeface="Wingdings 2" panose="05020102010507070707" pitchFamily="18" charset="2"/>
              <a:buNone/>
            </a:pPr>
            <a:r>
              <a:rPr lang="en-US" sz="2400" cap="all" dirty="0">
                <a:solidFill>
                  <a:srgbClr val="FFFFFF"/>
                </a:solidFill>
              </a:rPr>
              <a:t>CSC 3114</a:t>
            </a:r>
          </a:p>
          <a:p>
            <a:pPr marL="0" indent="0" algn="ctr">
              <a:buFont typeface="Wingdings 2" panose="05020102010507070707" pitchFamily="18" charset="2"/>
              <a:buNone/>
            </a:pPr>
            <a:r>
              <a:rPr lang="en-US" sz="2400" cap="all" dirty="0">
                <a:solidFill>
                  <a:srgbClr val="FFFFFF"/>
                </a:solidFill>
              </a:rPr>
              <a:t> (Undergraduate)</a:t>
            </a: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0CADBF75-A870-4E01-9DB8-F57472A203D2}"/>
              </a:ext>
            </a:extLst>
          </p:cNvPr>
          <p:cNvSpPr txBox="1">
            <a:spLocks/>
          </p:cNvSpPr>
          <p:nvPr/>
        </p:nvSpPr>
        <p:spPr>
          <a:xfrm>
            <a:off x="4471587" y="1005840"/>
            <a:ext cx="7181903" cy="138339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3000" dirty="0">
                <a:solidFill>
                  <a:srgbClr val="C00000"/>
                </a:solidFill>
              </a:rPr>
              <a:t>Chapter 1</a:t>
            </a:r>
            <a:br>
              <a:rPr lang="en-US" sz="3000" dirty="0">
                <a:solidFill>
                  <a:srgbClr val="C00000"/>
                </a:solidFill>
              </a:rPr>
            </a:br>
            <a:br>
              <a:rPr lang="en-US" sz="3000" dirty="0">
                <a:solidFill>
                  <a:schemeClr val="tx2"/>
                </a:solidFill>
              </a:rPr>
            </a:br>
            <a:r>
              <a:rPr lang="en-US" sz="3000" dirty="0">
                <a:solidFill>
                  <a:schemeClr val="tx2"/>
                </a:solidFill>
              </a:rPr>
              <a:t>software &amp; software engineering</a:t>
            </a:r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C2082529-78D7-4EA7-BFF9-A1D1F62040C8}"/>
              </a:ext>
            </a:extLst>
          </p:cNvPr>
          <p:cNvSpPr txBox="1">
            <a:spLocks/>
          </p:cNvSpPr>
          <p:nvPr/>
        </p:nvSpPr>
        <p:spPr>
          <a:xfrm>
            <a:off x="8143811" y="4493223"/>
            <a:ext cx="4896908" cy="16463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b="0" kern="1200" cap="all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sz="2400" dirty="0">
                <a:solidFill>
                  <a:schemeClr val="tx1"/>
                </a:solidFill>
                <a:latin typeface="Georgia" panose="02040502050405020303" pitchFamily="18" charset="0"/>
              </a:rPr>
              <a:t>Mejbah Ahammad</a:t>
            </a:r>
          </a:p>
          <a:p>
            <a:r>
              <a:rPr lang="en-US" sz="2400" dirty="0">
                <a:solidFill>
                  <a:schemeClr val="tx1"/>
                </a:solidFill>
                <a:latin typeface="Georgia" panose="02040502050405020303" pitchFamily="18" charset="0"/>
              </a:rPr>
              <a:t>Lecturer, CS,  AIUB</a:t>
            </a:r>
          </a:p>
          <a:p>
            <a:r>
              <a:rPr lang="en-US" sz="2400" dirty="0">
                <a:solidFill>
                  <a:schemeClr val="tx1"/>
                </a:solidFill>
                <a:latin typeface="Georgia" panose="02040502050405020303" pitchFamily="18" charset="0"/>
              </a:rPr>
              <a:t>+8801308757586</a:t>
            </a:r>
          </a:p>
          <a:p>
            <a:r>
              <a:rPr lang="en-US" sz="2400" cap="none" dirty="0">
                <a:solidFill>
                  <a:srgbClr val="F49100"/>
                </a:solidFill>
                <a:latin typeface="Georgia" panose="02040502050405020303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ahammadmejbah@aiub.</a:t>
            </a:r>
            <a:r>
              <a:rPr lang="en-US" sz="2400" cap="none" dirty="0">
                <a:solidFill>
                  <a:schemeClr val="tx1"/>
                </a:solidFill>
                <a:latin typeface="Georgia" panose="02040502050405020303" pitchFamily="18" charset="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edu</a:t>
            </a:r>
            <a:endParaRPr lang="en-US" sz="2400" cap="none" dirty="0">
              <a:solidFill>
                <a:schemeClr val="tx1"/>
              </a:solidFill>
              <a:latin typeface="Georgia" panose="02040502050405020303" pitchFamily="18" charset="0"/>
            </a:endParaRPr>
          </a:p>
          <a:p>
            <a:r>
              <a:rPr lang="en-US" sz="2400" cap="none" dirty="0">
                <a:solidFill>
                  <a:schemeClr val="tx1"/>
                </a:solidFill>
                <a:latin typeface="Georgia" panose="02040502050405020303" pitchFamily="18" charset="0"/>
              </a:rPr>
              <a:t>Room Number: DN0922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85CC0F6-BD7E-4264-9DDC-E65E61EE7B84}"/>
              </a:ext>
            </a:extLst>
          </p:cNvPr>
          <p:cNvCxnSpPr/>
          <p:nvPr/>
        </p:nvCxnSpPr>
        <p:spPr>
          <a:xfrm>
            <a:off x="4350774" y="796413"/>
            <a:ext cx="732994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6E5F233-5F84-472A-B835-11475F02A795}"/>
              </a:ext>
            </a:extLst>
          </p:cNvPr>
          <p:cNvCxnSpPr/>
          <p:nvPr/>
        </p:nvCxnSpPr>
        <p:spPr>
          <a:xfrm>
            <a:off x="4340942" y="2969341"/>
            <a:ext cx="7329949" cy="0"/>
          </a:xfrm>
          <a:prstGeom prst="line">
            <a:avLst/>
          </a:prstGeom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4565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8EEF3-BAF9-3363-7CAE-476D516AE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DC0F2-2ED6-9CFB-DE25-415A2DAC6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is Software engineering?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7C5F9D-97A7-3ABA-651D-45BB16B88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436" y="2063932"/>
            <a:ext cx="10953310" cy="4310742"/>
          </a:xfrm>
        </p:spPr>
        <p:txBody>
          <a:bodyPr>
            <a:normAutofit/>
          </a:bodyPr>
          <a:lstStyle/>
          <a:p>
            <a:pPr>
              <a:spcBef>
                <a:spcPct val="0"/>
              </a:spcBef>
              <a:buClrTx/>
              <a:buSzTx/>
              <a:buFont typeface="Wingdings" pitchFamily="2" charset="2"/>
              <a:buChar char="q"/>
              <a:defRPr/>
            </a:pPr>
            <a:r>
              <a:rPr lang="en-US" altLang="zh-TW" sz="2200" dirty="0">
                <a:latin typeface="+mj-lt"/>
              </a:rPr>
              <a:t>Technologies that make it easier, faster, and less expensive to build high-quality computer programs</a:t>
            </a:r>
          </a:p>
          <a:p>
            <a:pPr>
              <a:spcBef>
                <a:spcPct val="0"/>
              </a:spcBef>
              <a:buClrTx/>
              <a:buSzTx/>
              <a:buFont typeface="Wingdings" pitchFamily="2" charset="2"/>
              <a:buChar char="q"/>
              <a:defRPr/>
            </a:pPr>
            <a:r>
              <a:rPr lang="en-US" altLang="zh-TW" sz="2200" dirty="0">
                <a:latin typeface="+mj-lt"/>
              </a:rPr>
              <a:t>A discipline aiming at producing fault-free software, delivered on time and within budget, that satisfies the users’ needs.</a:t>
            </a:r>
          </a:p>
          <a:p>
            <a:pPr marL="0" indent="0">
              <a:spcBef>
                <a:spcPct val="0"/>
              </a:spcBef>
              <a:buClrTx/>
              <a:buSzTx/>
              <a:buNone/>
              <a:defRPr/>
            </a:pPr>
            <a:endParaRPr lang="en-US" altLang="zh-TW" sz="2200" dirty="0">
              <a:latin typeface="+mj-lt"/>
            </a:endParaRPr>
          </a:p>
          <a:p>
            <a:pPr>
              <a:spcBef>
                <a:spcPct val="0"/>
              </a:spcBef>
              <a:buClrTx/>
              <a:buSzTx/>
              <a:buFont typeface="Wingdings" pitchFamily="2" charset="2"/>
              <a:buChar char="q"/>
              <a:defRPr/>
            </a:pPr>
            <a:r>
              <a:rPr lang="en-US" altLang="zh-TW" sz="2200" dirty="0">
                <a:solidFill>
                  <a:srgbClr val="C00000"/>
                </a:solidFill>
                <a:latin typeface="+mj-lt"/>
              </a:rPr>
              <a:t>An engineering:  </a:t>
            </a:r>
            <a:r>
              <a:rPr lang="en-US" altLang="zh-TW" sz="2200" dirty="0">
                <a:latin typeface="+mj-lt"/>
              </a:rPr>
              <a:t>A set of activities in software production </a:t>
            </a:r>
          </a:p>
          <a:p>
            <a:pPr>
              <a:spcBef>
                <a:spcPct val="0"/>
              </a:spcBef>
              <a:buClrTx/>
              <a:buSzTx/>
              <a:buFont typeface="Wingdings" pitchFamily="2" charset="2"/>
              <a:buChar char="q"/>
              <a:defRPr/>
            </a:pPr>
            <a:r>
              <a:rPr lang="en-US" altLang="zh-TW" sz="2200" dirty="0">
                <a:latin typeface="+mj-lt"/>
              </a:rPr>
              <a:t>The philosophy of established engineering disciplines to solve what are termed software crisis</a:t>
            </a:r>
          </a:p>
          <a:p>
            <a:pPr>
              <a:spcBef>
                <a:spcPct val="0"/>
              </a:spcBef>
              <a:buClrTx/>
              <a:buSzTx/>
              <a:buFont typeface="Wingdings" pitchFamily="2" charset="2"/>
              <a:buChar char="q"/>
              <a:defRPr/>
            </a:pPr>
            <a:endParaRPr lang="en-US" altLang="zh-TW" sz="2200" dirty="0">
              <a:latin typeface="+mj-lt"/>
            </a:endParaRPr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1F69B8F5-4CB5-7998-D2D4-ED83013D3973}"/>
              </a:ext>
            </a:extLst>
          </p:cNvPr>
          <p:cNvSpPr txBox="1">
            <a:spLocks/>
          </p:cNvSpPr>
          <p:nvPr/>
        </p:nvSpPr>
        <p:spPr>
          <a:xfrm>
            <a:off x="11665746" y="587829"/>
            <a:ext cx="425823" cy="1225165"/>
          </a:xfrm>
          <a:prstGeom prst="rect">
            <a:avLst/>
          </a:prstGeom>
        </p:spPr>
        <p:txBody>
          <a:bodyPr vert="vert270" lIns="91440" tIns="45720" rIns="91440" bIns="45720"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Slide - 2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B11A590-4A62-E828-3EFD-C053B34D4D04}"/>
              </a:ext>
            </a:extLst>
          </p:cNvPr>
          <p:cNvSpPr txBox="1">
            <a:spLocks/>
          </p:cNvSpPr>
          <p:nvPr/>
        </p:nvSpPr>
        <p:spPr>
          <a:xfrm>
            <a:off x="11551428" y="6582157"/>
            <a:ext cx="640572" cy="2758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RM</a:t>
            </a:r>
          </a:p>
        </p:txBody>
      </p:sp>
    </p:spTree>
    <p:extLst>
      <p:ext uri="{BB962C8B-B14F-4D97-AF65-F5344CB8AC3E}">
        <p14:creationId xmlns:p14="http://schemas.microsoft.com/office/powerpoint/2010/main" val="1641042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Scope of software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57550"/>
            <a:ext cx="10652865" cy="3273476"/>
          </a:xfrm>
        </p:spPr>
        <p:txBody>
          <a:bodyPr>
            <a:normAutofit/>
          </a:bodyPr>
          <a:lstStyle/>
          <a:p>
            <a:pPr>
              <a:buFont typeface="Wingdings" pitchFamily="2" charset="2"/>
              <a:buChar char="q"/>
            </a:pPr>
            <a:r>
              <a:rPr lang="en-US" altLang="ko-KR" sz="2000" dirty="0">
                <a:latin typeface="+mj-lt"/>
                <a:ea typeface="굴림" pitchFamily="34" charset="-127"/>
              </a:rPr>
              <a:t>The aim of Software Engineering is to solve Software Crisis: </a:t>
            </a:r>
          </a:p>
          <a:p>
            <a:pPr lvl="1">
              <a:buFont typeface="Wingdings" pitchFamily="2" charset="2"/>
              <a:buChar char="§"/>
            </a:pPr>
            <a:r>
              <a:rPr lang="en-US" altLang="ko-KR" sz="2000" dirty="0">
                <a:solidFill>
                  <a:srgbClr val="FF0000"/>
                </a:solidFill>
                <a:latin typeface="+mj-lt"/>
                <a:ea typeface="굴림" pitchFamily="34" charset="-127"/>
              </a:rPr>
              <a:t>Late</a:t>
            </a:r>
          </a:p>
          <a:p>
            <a:pPr lvl="1">
              <a:buFont typeface="Wingdings" pitchFamily="2" charset="2"/>
              <a:buChar char="§"/>
            </a:pPr>
            <a:r>
              <a:rPr lang="en-US" altLang="ko-KR" sz="2000" dirty="0">
                <a:solidFill>
                  <a:srgbClr val="FF0000"/>
                </a:solidFill>
                <a:latin typeface="+mj-lt"/>
                <a:ea typeface="굴림" pitchFamily="34" charset="-127"/>
              </a:rPr>
              <a:t>Over budget</a:t>
            </a:r>
          </a:p>
          <a:p>
            <a:pPr lvl="1">
              <a:buFont typeface="Wingdings" pitchFamily="2" charset="2"/>
              <a:buChar char="§"/>
            </a:pPr>
            <a:r>
              <a:rPr lang="en-US" altLang="ko-KR" sz="2000" dirty="0">
                <a:solidFill>
                  <a:srgbClr val="FF0000"/>
                </a:solidFill>
                <a:latin typeface="+mj-lt"/>
                <a:ea typeface="굴림" pitchFamily="34" charset="-127"/>
              </a:rPr>
              <a:t>Low quality with lots of faults</a:t>
            </a:r>
          </a:p>
          <a:p>
            <a:pPr lvl="1">
              <a:buFont typeface="Wingdings" pitchFamily="2" charset="2"/>
              <a:buChar char="§"/>
            </a:pPr>
            <a:endParaRPr lang="en-US" altLang="ko-KR" sz="2000" dirty="0">
              <a:solidFill>
                <a:srgbClr val="FF0000"/>
              </a:solidFill>
              <a:latin typeface="+mj-lt"/>
              <a:ea typeface="굴림" pitchFamily="34" charset="-127"/>
            </a:endParaRPr>
          </a:p>
          <a:p>
            <a:pPr lvl="1">
              <a:buFont typeface="Wingdings" pitchFamily="2" charset="2"/>
              <a:buChar char="§"/>
            </a:pPr>
            <a:endParaRPr lang="en-US" altLang="ko-KR" sz="2000" dirty="0">
              <a:solidFill>
                <a:srgbClr val="FF0000"/>
              </a:solidFill>
              <a:latin typeface="+mj-lt"/>
              <a:ea typeface="굴림" pitchFamily="34" charset="-127"/>
            </a:endParaRPr>
          </a:p>
          <a:p>
            <a:pPr>
              <a:buFont typeface="Wingdings" pitchFamily="2" charset="2"/>
              <a:buChar char="q"/>
            </a:pPr>
            <a:r>
              <a:rPr lang="en-US" altLang="ko-KR" sz="2000" dirty="0">
                <a:latin typeface="+mj-lt"/>
                <a:ea typeface="굴림" pitchFamily="34" charset="-127"/>
              </a:rPr>
              <a:t>Software crisis is still present over 35 years later!</a:t>
            </a:r>
            <a:endParaRPr lang="en-US" altLang="zh-TW" sz="2000" dirty="0">
              <a:latin typeface="+mj-lt"/>
              <a:ea typeface="PMingLiU" pitchFamily="18" charset="-120"/>
            </a:endParaRPr>
          </a:p>
        </p:txBody>
      </p:sp>
      <p:sp>
        <p:nvSpPr>
          <p:cNvPr id="9" name="Slide Number Placeholder 3"/>
          <p:cNvSpPr txBox="1">
            <a:spLocks/>
          </p:cNvSpPr>
          <p:nvPr/>
        </p:nvSpPr>
        <p:spPr>
          <a:xfrm>
            <a:off x="11665746" y="587829"/>
            <a:ext cx="425823" cy="1225165"/>
          </a:xfrm>
          <a:prstGeom prst="rect">
            <a:avLst/>
          </a:prstGeom>
        </p:spPr>
        <p:txBody>
          <a:bodyPr vert="vert270" lIns="91440" tIns="45720" rIns="91440" bIns="45720"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Slide - </a:t>
            </a:r>
            <a:r>
              <a:rPr lang="en-US" sz="1400" b="1" dirty="0">
                <a:solidFill>
                  <a:schemeClr val="accent2"/>
                </a:solidFill>
              </a:rPr>
              <a:t>3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97933A36-B0B5-9997-56BC-6D0BBA0D031E}"/>
              </a:ext>
            </a:extLst>
          </p:cNvPr>
          <p:cNvSpPr txBox="1">
            <a:spLocks/>
          </p:cNvSpPr>
          <p:nvPr/>
        </p:nvSpPr>
        <p:spPr>
          <a:xfrm>
            <a:off x="11551428" y="6582157"/>
            <a:ext cx="640572" cy="2758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RM</a:t>
            </a:r>
          </a:p>
        </p:txBody>
      </p:sp>
    </p:spTree>
    <p:extLst>
      <p:ext uri="{BB962C8B-B14F-4D97-AF65-F5344CB8AC3E}">
        <p14:creationId xmlns:p14="http://schemas.microsoft.com/office/powerpoint/2010/main" val="34116846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Software characteristics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4070" y="1928753"/>
            <a:ext cx="11186738" cy="4298315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q"/>
            </a:pPr>
            <a:r>
              <a:rPr lang="en-US" altLang="zh-TW" sz="2200" dirty="0">
                <a:latin typeface="+mj-lt"/>
              </a:rPr>
              <a:t>A </a:t>
            </a:r>
            <a:r>
              <a:rPr lang="en-US" altLang="zh-TW" sz="2200" dirty="0">
                <a:solidFill>
                  <a:srgbClr val="00B050"/>
                </a:solidFill>
                <a:latin typeface="+mj-lt"/>
              </a:rPr>
              <a:t>logical</a:t>
            </a:r>
            <a:r>
              <a:rPr lang="en-US" altLang="zh-TW" sz="2200" dirty="0">
                <a:latin typeface="+mj-lt"/>
              </a:rPr>
              <a:t> (intangible) rather than a </a:t>
            </a:r>
            <a:r>
              <a:rPr lang="en-US" altLang="zh-TW" sz="2200" dirty="0">
                <a:solidFill>
                  <a:srgbClr val="FF0000"/>
                </a:solidFill>
                <a:latin typeface="+mj-lt"/>
              </a:rPr>
              <a:t>physical</a:t>
            </a:r>
            <a:r>
              <a:rPr lang="en-US" altLang="zh-TW" sz="2200" dirty="0">
                <a:latin typeface="+mj-lt"/>
              </a:rPr>
              <a:t> system element </a:t>
            </a:r>
          </a:p>
          <a:p>
            <a:pPr>
              <a:buFont typeface="Wingdings" pitchFamily="2" charset="2"/>
              <a:buChar char="q"/>
            </a:pPr>
            <a:r>
              <a:rPr lang="en-US" altLang="zh-TW" sz="2200" dirty="0">
                <a:latin typeface="+mj-lt"/>
              </a:rPr>
              <a:t>Being </a:t>
            </a:r>
            <a:r>
              <a:rPr lang="en-US" altLang="zh-TW" sz="2200" dirty="0">
                <a:solidFill>
                  <a:srgbClr val="00B050"/>
                </a:solidFill>
                <a:latin typeface="+mj-lt"/>
              </a:rPr>
              <a:t>developed or engineered</a:t>
            </a:r>
            <a:r>
              <a:rPr lang="en-US" altLang="zh-TW" sz="2200" dirty="0">
                <a:latin typeface="+mj-lt"/>
              </a:rPr>
              <a:t> but not being </a:t>
            </a:r>
            <a:r>
              <a:rPr lang="en-US" altLang="zh-TW" sz="2200" dirty="0">
                <a:solidFill>
                  <a:srgbClr val="FF0000"/>
                </a:solidFill>
                <a:latin typeface="+mj-lt"/>
              </a:rPr>
              <a:t>manufactured</a:t>
            </a:r>
          </a:p>
          <a:p>
            <a:pPr>
              <a:buFont typeface="Wingdings" pitchFamily="2" charset="2"/>
              <a:buChar char="q"/>
            </a:pPr>
            <a:r>
              <a:rPr lang="en-US" altLang="zh-TW" sz="2200" dirty="0">
                <a:latin typeface="+mj-lt"/>
              </a:rPr>
              <a:t>Software cost concentrating in </a:t>
            </a:r>
            <a:r>
              <a:rPr lang="en-US" altLang="zh-TW" sz="2200" dirty="0">
                <a:solidFill>
                  <a:srgbClr val="00B050"/>
                </a:solidFill>
                <a:latin typeface="+mj-lt"/>
              </a:rPr>
              <a:t>engineering</a:t>
            </a:r>
            <a:r>
              <a:rPr lang="en-US" altLang="zh-TW" sz="2200" dirty="0">
                <a:latin typeface="+mj-lt"/>
              </a:rPr>
              <a:t>, not in </a:t>
            </a:r>
            <a:r>
              <a:rPr lang="en-US" altLang="zh-TW" sz="2200" dirty="0">
                <a:solidFill>
                  <a:srgbClr val="FF0000"/>
                </a:solidFill>
                <a:latin typeface="+mj-lt"/>
              </a:rPr>
              <a:t>materials</a:t>
            </a:r>
          </a:p>
          <a:p>
            <a:pPr>
              <a:buFont typeface="Wingdings" pitchFamily="2" charset="2"/>
              <a:buChar char="q"/>
            </a:pPr>
            <a:r>
              <a:rPr lang="en-US" altLang="zh-TW" sz="2200" dirty="0">
                <a:latin typeface="+mj-lt"/>
              </a:rPr>
              <a:t>Software </a:t>
            </a:r>
            <a:r>
              <a:rPr lang="en-US" altLang="zh-TW" sz="2200" dirty="0">
                <a:solidFill>
                  <a:srgbClr val="FF0000"/>
                </a:solidFill>
                <a:latin typeface="+mj-lt"/>
              </a:rPr>
              <a:t>does not “wearing out”</a:t>
            </a:r>
            <a:r>
              <a:rPr lang="en-US" altLang="zh-TW" sz="2200" dirty="0">
                <a:latin typeface="+mj-lt"/>
              </a:rPr>
              <a:t> but “</a:t>
            </a:r>
            <a:r>
              <a:rPr lang="en-US" altLang="zh-TW" sz="2200" dirty="0">
                <a:solidFill>
                  <a:srgbClr val="00B050"/>
                </a:solidFill>
                <a:latin typeface="+mj-lt"/>
              </a:rPr>
              <a:t>deteriorating</a:t>
            </a:r>
            <a:r>
              <a:rPr lang="en-US" altLang="zh-TW" sz="2200" dirty="0">
                <a:latin typeface="+mj-lt"/>
              </a:rPr>
              <a:t>”(not destroyed after lifetime like hardware, but backdated by </a:t>
            </a:r>
            <a:r>
              <a:rPr lang="en-US" altLang="zh-TW" sz="2200" dirty="0">
                <a:solidFill>
                  <a:srgbClr val="00B050"/>
                </a:solidFill>
                <a:latin typeface="+mj-lt"/>
              </a:rPr>
              <a:t>aging </a:t>
            </a:r>
            <a:r>
              <a:rPr lang="en-US" altLang="zh-TW" sz="2200" dirty="0">
                <a:latin typeface="+mj-lt"/>
              </a:rPr>
              <a:t>that needs to update)</a:t>
            </a:r>
          </a:p>
          <a:p>
            <a:pPr>
              <a:buFont typeface="Wingdings" pitchFamily="2" charset="2"/>
              <a:buChar char="q"/>
            </a:pPr>
            <a:r>
              <a:rPr lang="en-US" altLang="zh-TW" sz="2200" dirty="0">
                <a:ea typeface="PMingLiU" pitchFamily="18" charset="-120"/>
              </a:rPr>
              <a:t>Software is a ‘</a:t>
            </a:r>
            <a:r>
              <a:rPr lang="en-US" altLang="zh-TW" sz="2200" dirty="0">
                <a:solidFill>
                  <a:srgbClr val="00B050"/>
                </a:solidFill>
                <a:ea typeface="PMingLiU" pitchFamily="18" charset="-120"/>
              </a:rPr>
              <a:t>differentiator</a:t>
            </a:r>
            <a:r>
              <a:rPr lang="en-US" altLang="zh-TW" sz="2200" dirty="0">
                <a:ea typeface="PMingLiU" pitchFamily="18" charset="-120"/>
              </a:rPr>
              <a:t>’ (different sub-systems, e.g. </a:t>
            </a:r>
            <a:r>
              <a:rPr lang="en-GB" sz="2200" dirty="0">
                <a:solidFill>
                  <a:srgbClr val="0070C0"/>
                </a:solidFill>
              </a:rPr>
              <a:t>cashier’s workstation in a supermarket</a:t>
            </a:r>
            <a:r>
              <a:rPr lang="en-US" altLang="zh-TW" sz="2200" dirty="0">
                <a:ea typeface="PMingLiU" pitchFamily="18" charset="-120"/>
              </a:rPr>
              <a:t>)</a:t>
            </a:r>
            <a:endParaRPr lang="en-US" altLang="zh-TW" sz="2200" dirty="0">
              <a:latin typeface="+mj-lt"/>
            </a:endParaRPr>
          </a:p>
          <a:p>
            <a:pPr>
              <a:buFont typeface="Wingdings" pitchFamily="2" charset="2"/>
              <a:buChar char="q"/>
            </a:pPr>
            <a:r>
              <a:rPr lang="en-US" altLang="zh-TW" sz="2200" dirty="0">
                <a:latin typeface="+mj-lt"/>
              </a:rPr>
              <a:t>Without “</a:t>
            </a:r>
            <a:r>
              <a:rPr lang="en-US" altLang="zh-TW" sz="2200" dirty="0">
                <a:solidFill>
                  <a:srgbClr val="FF0000"/>
                </a:solidFill>
                <a:latin typeface="+mj-lt"/>
              </a:rPr>
              <a:t>spare parts</a:t>
            </a:r>
            <a:r>
              <a:rPr lang="en-US" altLang="zh-TW" sz="2200" dirty="0">
                <a:latin typeface="+mj-lt"/>
              </a:rPr>
              <a:t>” in software maintenance (no extra useless features in software)</a:t>
            </a:r>
          </a:p>
          <a:p>
            <a:pPr>
              <a:buFont typeface="Wingdings" pitchFamily="2" charset="2"/>
              <a:buChar char="q"/>
            </a:pPr>
            <a:r>
              <a:rPr lang="en-US" altLang="zh-TW" sz="2200" dirty="0">
                <a:latin typeface="+mj-lt"/>
              </a:rPr>
              <a:t>Most software continues to be custom-built (based on the requirements)</a:t>
            </a:r>
          </a:p>
        </p:txBody>
      </p:sp>
      <p:sp>
        <p:nvSpPr>
          <p:cNvPr id="5" name="Slide Number Placeholder 3"/>
          <p:cNvSpPr txBox="1">
            <a:spLocks/>
          </p:cNvSpPr>
          <p:nvPr/>
        </p:nvSpPr>
        <p:spPr>
          <a:xfrm>
            <a:off x="11665746" y="587829"/>
            <a:ext cx="425823" cy="1225165"/>
          </a:xfrm>
          <a:prstGeom prst="rect">
            <a:avLst/>
          </a:prstGeom>
        </p:spPr>
        <p:txBody>
          <a:bodyPr vert="vert270" lIns="91440" tIns="45720" rIns="91440" bIns="45720"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Slide - </a:t>
            </a:r>
            <a:r>
              <a:rPr lang="en-US" sz="1400" b="1" dirty="0">
                <a:solidFill>
                  <a:schemeClr val="accent2"/>
                </a:solidFill>
              </a:rPr>
              <a:t>4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761616C-BB6C-0C2A-8ED0-3C10F599C6DD}"/>
              </a:ext>
            </a:extLst>
          </p:cNvPr>
          <p:cNvSpPr txBox="1">
            <a:spLocks/>
          </p:cNvSpPr>
          <p:nvPr/>
        </p:nvSpPr>
        <p:spPr>
          <a:xfrm>
            <a:off x="11551428" y="6582157"/>
            <a:ext cx="640572" cy="2758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RM</a:t>
            </a:r>
          </a:p>
        </p:txBody>
      </p:sp>
    </p:spTree>
    <p:extLst>
      <p:ext uri="{BB962C8B-B14F-4D97-AF65-F5344CB8AC3E}">
        <p14:creationId xmlns:p14="http://schemas.microsoft.com/office/powerpoint/2010/main" val="34116846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Software development life cycle (SDLC)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7947" y="2024743"/>
            <a:ext cx="10652865" cy="4193177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  <a:buFont typeface="Wingdings" panose="05000000000000000000" pitchFamily="2" charset="2"/>
              <a:buChar char="q"/>
              <a:tabLst>
                <a:tab pos="1260475" algn="l"/>
              </a:tabLst>
            </a:pPr>
            <a:r>
              <a:rPr lang="en-GB" sz="2000" dirty="0">
                <a:latin typeface="+mj-lt"/>
              </a:rPr>
              <a:t>A structured set of activities required to develop a software system</a:t>
            </a:r>
            <a:endParaRPr lang="en-US" sz="2000" dirty="0">
              <a:latin typeface="+mj-lt"/>
              <a:ea typeface="PMingLiU" pitchFamily="18" charset="-120"/>
            </a:endParaRPr>
          </a:p>
          <a:p>
            <a:pPr>
              <a:lnSpc>
                <a:spcPct val="90000"/>
              </a:lnSpc>
              <a:buFont typeface="Wingdings" panose="05000000000000000000" pitchFamily="2" charset="2"/>
              <a:buChar char="q"/>
              <a:tabLst>
                <a:tab pos="1260475" algn="l"/>
              </a:tabLst>
            </a:pPr>
            <a:r>
              <a:rPr lang="en-US" altLang="zh-TW" sz="2000" dirty="0">
                <a:latin typeface="+mj-lt"/>
                <a:ea typeface="PMingLiU" pitchFamily="18" charset="-120"/>
              </a:rPr>
              <a:t>The way we produce software, including:</a:t>
            </a:r>
            <a:br>
              <a:rPr lang="en-US" altLang="zh-TW" sz="2000" dirty="0">
                <a:latin typeface="+mj-lt"/>
                <a:ea typeface="PMingLiU" pitchFamily="18" charset="-120"/>
              </a:rPr>
            </a:br>
            <a:endParaRPr lang="en-US" altLang="zh-TW" sz="2000" dirty="0">
              <a:latin typeface="+mj-lt"/>
              <a:ea typeface="PMingLiU" pitchFamily="18" charset="-120"/>
            </a:endParaRPr>
          </a:p>
          <a:p>
            <a:pPr marL="457200" indent="-457200">
              <a:lnSpc>
                <a:spcPct val="90000"/>
              </a:lnSpc>
              <a:buFont typeface="+mj-lt"/>
              <a:buAutoNum type="arabicPeriod"/>
              <a:tabLst>
                <a:tab pos="1260475" algn="l"/>
              </a:tabLst>
            </a:pPr>
            <a:r>
              <a:rPr lang="en-US" altLang="zh-TW" sz="2000" dirty="0">
                <a:latin typeface="+mj-lt"/>
                <a:ea typeface="PMingLiU" pitchFamily="18" charset="-120"/>
              </a:rPr>
              <a:t>Planning </a:t>
            </a:r>
          </a:p>
          <a:p>
            <a:pPr marL="457200" indent="-457200">
              <a:lnSpc>
                <a:spcPct val="90000"/>
              </a:lnSpc>
              <a:buFont typeface="+mj-lt"/>
              <a:buAutoNum type="arabicPeriod"/>
              <a:tabLst>
                <a:tab pos="1260475" algn="l"/>
              </a:tabLst>
            </a:pPr>
            <a:r>
              <a:rPr lang="en-US" altLang="zh-TW" sz="2000" dirty="0">
                <a:latin typeface="+mj-lt"/>
                <a:ea typeface="PMingLiU" pitchFamily="18" charset="-120"/>
              </a:rPr>
              <a:t>Requirements Analysis</a:t>
            </a:r>
          </a:p>
          <a:p>
            <a:pPr marL="457200" indent="-457200">
              <a:lnSpc>
                <a:spcPct val="90000"/>
              </a:lnSpc>
              <a:buFont typeface="+mj-lt"/>
              <a:buAutoNum type="arabicPeriod"/>
              <a:tabLst>
                <a:tab pos="1260475" algn="l"/>
              </a:tabLst>
            </a:pPr>
            <a:r>
              <a:rPr lang="en-US" altLang="zh-TW" sz="2000" dirty="0">
                <a:latin typeface="+mj-lt"/>
                <a:ea typeface="PMingLiU" pitchFamily="18" charset="-120"/>
              </a:rPr>
              <a:t>Design</a:t>
            </a:r>
          </a:p>
          <a:p>
            <a:pPr marL="457200" indent="-457200">
              <a:lnSpc>
                <a:spcPct val="90000"/>
              </a:lnSpc>
              <a:buFont typeface="+mj-lt"/>
              <a:buAutoNum type="arabicPeriod"/>
              <a:tabLst>
                <a:tab pos="1260475" algn="l"/>
              </a:tabLst>
            </a:pPr>
            <a:r>
              <a:rPr lang="en-US" altLang="zh-TW" sz="2000" dirty="0">
                <a:latin typeface="+mj-lt"/>
                <a:ea typeface="PMingLiU" pitchFamily="18" charset="-120"/>
              </a:rPr>
              <a:t>Development</a:t>
            </a:r>
          </a:p>
          <a:p>
            <a:pPr marL="457200" indent="-457200">
              <a:lnSpc>
                <a:spcPct val="90000"/>
              </a:lnSpc>
              <a:buFont typeface="+mj-lt"/>
              <a:buAutoNum type="arabicPeriod"/>
              <a:tabLst>
                <a:tab pos="1260475" algn="l"/>
              </a:tabLst>
            </a:pPr>
            <a:r>
              <a:rPr lang="en-US" altLang="zh-TW" sz="2000" dirty="0">
                <a:latin typeface="+mj-lt"/>
                <a:ea typeface="PMingLiU" pitchFamily="18" charset="-120"/>
              </a:rPr>
              <a:t>Testing</a:t>
            </a:r>
          </a:p>
          <a:p>
            <a:pPr marL="457200" indent="-457200">
              <a:lnSpc>
                <a:spcPct val="90000"/>
              </a:lnSpc>
              <a:buFont typeface="+mj-lt"/>
              <a:buAutoNum type="arabicPeriod"/>
              <a:tabLst>
                <a:tab pos="1260475" algn="l"/>
              </a:tabLst>
            </a:pPr>
            <a:r>
              <a:rPr lang="en-US" altLang="zh-TW" sz="2000" dirty="0">
                <a:latin typeface="+mj-lt"/>
                <a:ea typeface="PMingLiU" pitchFamily="18" charset="-120"/>
              </a:rPr>
              <a:t>Final release / Deployment</a:t>
            </a:r>
          </a:p>
          <a:p>
            <a:pPr marL="457200" indent="-457200">
              <a:lnSpc>
                <a:spcPct val="90000"/>
              </a:lnSpc>
              <a:buFont typeface="+mj-lt"/>
              <a:buAutoNum type="arabicPeriod"/>
              <a:tabLst>
                <a:tab pos="1260475" algn="l"/>
              </a:tabLst>
            </a:pPr>
            <a:r>
              <a:rPr lang="en-US" altLang="zh-TW" sz="2000" dirty="0">
                <a:latin typeface="+mj-lt"/>
                <a:ea typeface="PMingLiU" pitchFamily="18" charset="-120"/>
              </a:rPr>
              <a:t>Maintenance</a:t>
            </a:r>
          </a:p>
        </p:txBody>
      </p:sp>
      <p:sp>
        <p:nvSpPr>
          <p:cNvPr id="6" name="Slide Number Placeholder 3"/>
          <p:cNvSpPr txBox="1">
            <a:spLocks/>
          </p:cNvSpPr>
          <p:nvPr/>
        </p:nvSpPr>
        <p:spPr>
          <a:xfrm>
            <a:off x="11665746" y="587829"/>
            <a:ext cx="425823" cy="1225165"/>
          </a:xfrm>
          <a:prstGeom prst="rect">
            <a:avLst/>
          </a:prstGeom>
        </p:spPr>
        <p:txBody>
          <a:bodyPr vert="vert270" lIns="91440" tIns="45720" rIns="91440" bIns="45720"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Slide - </a:t>
            </a:r>
            <a:r>
              <a:rPr lang="en-US" sz="1400" b="1" dirty="0">
                <a:solidFill>
                  <a:schemeClr val="accent2"/>
                </a:solidFill>
              </a:rPr>
              <a:t>5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8BC0F1A-8886-94B9-3267-48CF1CC23CFD}"/>
              </a:ext>
            </a:extLst>
          </p:cNvPr>
          <p:cNvSpPr txBox="1">
            <a:spLocks/>
          </p:cNvSpPr>
          <p:nvPr/>
        </p:nvSpPr>
        <p:spPr>
          <a:xfrm>
            <a:off x="11551428" y="6582157"/>
            <a:ext cx="640572" cy="2758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RM</a:t>
            </a:r>
          </a:p>
        </p:txBody>
      </p:sp>
    </p:spTree>
    <p:extLst>
      <p:ext uri="{BB962C8B-B14F-4D97-AF65-F5344CB8AC3E}">
        <p14:creationId xmlns:p14="http://schemas.microsoft.com/office/powerpoint/2010/main" val="3411684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923D-EB03-790F-A064-D7DDBF944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Software development life cycle (SDLC)</a:t>
            </a:r>
            <a:endParaRPr lang="en-US" sz="3200" b="1" dirty="0"/>
          </a:p>
        </p:txBody>
      </p:sp>
      <p:pic>
        <p:nvPicPr>
          <p:cNvPr id="6" name="Content Placeholder 5" descr="A circular chart with text&#10;&#10;AI-generated content may be incorrect.">
            <a:extLst>
              <a:ext uri="{FF2B5EF4-FFF2-40B4-BE49-F238E27FC236}">
                <a16:creationId xmlns:a16="http://schemas.microsoft.com/office/drawing/2014/main" id="{0FBC46FD-FB6C-4C71-9FB7-1D80575209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92288" y="1832817"/>
            <a:ext cx="4807424" cy="502518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A01CA5-6A70-2EED-5DD8-4AE08FA87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61A4ACF4-C431-6144-17A3-68B42B5E7210}"/>
              </a:ext>
            </a:extLst>
          </p:cNvPr>
          <p:cNvSpPr txBox="1">
            <a:spLocks/>
          </p:cNvSpPr>
          <p:nvPr/>
        </p:nvSpPr>
        <p:spPr>
          <a:xfrm>
            <a:off x="11665746" y="587829"/>
            <a:ext cx="425823" cy="1225165"/>
          </a:xfrm>
          <a:prstGeom prst="rect">
            <a:avLst/>
          </a:prstGeom>
        </p:spPr>
        <p:txBody>
          <a:bodyPr vert="vert270" lIns="91440" tIns="45720" rIns="91440" bIns="45720"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Slide - 6</a:t>
            </a:r>
          </a:p>
        </p:txBody>
      </p:sp>
    </p:spTree>
    <p:extLst>
      <p:ext uri="{BB962C8B-B14F-4D97-AF65-F5344CB8AC3E}">
        <p14:creationId xmlns:p14="http://schemas.microsoft.com/office/powerpoint/2010/main" val="204604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Good &amp; bad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1933303"/>
            <a:ext cx="10652865" cy="4545873"/>
          </a:xfrm>
        </p:spPr>
        <p:txBody>
          <a:bodyPr>
            <a:noAutofit/>
          </a:bodyPr>
          <a:lstStyle/>
          <a:p>
            <a:pPr>
              <a:lnSpc>
                <a:spcPct val="90000"/>
              </a:lnSpc>
              <a:buFont typeface="Wingdings" pitchFamily="2" charset="2"/>
              <a:buChar char="q"/>
            </a:pPr>
            <a:r>
              <a:rPr lang="en-US" altLang="zh-TW" sz="2200" dirty="0">
                <a:latin typeface="+mj-lt"/>
                <a:ea typeface="PMingLiU" pitchFamily="18" charset="-120"/>
              </a:rPr>
              <a:t>Good software is maintained—bad software is discarded</a:t>
            </a:r>
            <a:br>
              <a:rPr lang="en-US" altLang="zh-TW" sz="2200" dirty="0">
                <a:latin typeface="+mj-lt"/>
                <a:ea typeface="PMingLiU" pitchFamily="18" charset="-120"/>
              </a:rPr>
            </a:br>
            <a:endParaRPr lang="en-US" altLang="zh-TW" sz="2200" dirty="0">
              <a:latin typeface="+mj-lt"/>
              <a:ea typeface="PMingLiU" pitchFamily="18" charset="-120"/>
            </a:endParaRPr>
          </a:p>
          <a:p>
            <a:pPr>
              <a:lnSpc>
                <a:spcPct val="90000"/>
              </a:lnSpc>
              <a:buFont typeface="Wingdings" pitchFamily="2" charset="2"/>
              <a:buChar char="q"/>
            </a:pPr>
            <a:r>
              <a:rPr lang="en-US" altLang="zh-TW" sz="2200" dirty="0">
                <a:latin typeface="+mj-lt"/>
                <a:ea typeface="PMingLiU" pitchFamily="18" charset="-120"/>
              </a:rPr>
              <a:t> Different types of maintenance</a:t>
            </a:r>
          </a:p>
          <a:p>
            <a:pPr lvl="1">
              <a:lnSpc>
                <a:spcPct val="90000"/>
              </a:lnSpc>
              <a:buFont typeface="Wingdings" pitchFamily="2" charset="2"/>
              <a:buChar char="§"/>
            </a:pPr>
            <a:r>
              <a:rPr lang="en-US" altLang="zh-TW" sz="2200" dirty="0">
                <a:solidFill>
                  <a:srgbClr val="002060"/>
                </a:solidFill>
                <a:latin typeface="+mj-lt"/>
                <a:ea typeface="PMingLiU" pitchFamily="18" charset="-120"/>
              </a:rPr>
              <a:t>  Corrective maintenance </a:t>
            </a:r>
            <a:r>
              <a:rPr lang="en-US" altLang="zh-TW" sz="2200" dirty="0">
                <a:solidFill>
                  <a:srgbClr val="002060"/>
                </a:solidFill>
                <a:ea typeface="PMingLiU" pitchFamily="18" charset="-120"/>
              </a:rPr>
              <a:t>[about 20%]</a:t>
            </a:r>
            <a:endParaRPr lang="en-US" altLang="zh-TW" sz="2200" dirty="0">
              <a:solidFill>
                <a:srgbClr val="002060"/>
              </a:solidFill>
              <a:latin typeface="+mj-lt"/>
              <a:ea typeface="PMingLiU" pitchFamily="18" charset="-120"/>
            </a:endParaRPr>
          </a:p>
          <a:p>
            <a:pPr lvl="2">
              <a:lnSpc>
                <a:spcPct val="90000"/>
              </a:lnSpc>
              <a:buFontTx/>
              <a:buChar char="-"/>
            </a:pPr>
            <a:r>
              <a:rPr lang="en-US" altLang="zh-TW" sz="2200" dirty="0">
                <a:solidFill>
                  <a:srgbClr val="C00000"/>
                </a:solidFill>
                <a:latin typeface="+mj-lt"/>
                <a:ea typeface="PMingLiU" pitchFamily="18" charset="-120"/>
              </a:rPr>
              <a:t>Modification to fix a problem</a:t>
            </a:r>
            <a:endParaRPr lang="en-US" altLang="zh-TW" sz="2200" dirty="0">
              <a:solidFill>
                <a:srgbClr val="002060"/>
              </a:solidFill>
              <a:latin typeface="+mj-lt"/>
              <a:ea typeface="PMingLiU" pitchFamily="18" charset="-120"/>
            </a:endParaRPr>
          </a:p>
          <a:p>
            <a:pPr lvl="1">
              <a:lnSpc>
                <a:spcPct val="90000"/>
              </a:lnSpc>
              <a:buFont typeface="Wingdings" pitchFamily="2" charset="2"/>
              <a:buChar char="§"/>
            </a:pPr>
            <a:r>
              <a:rPr lang="en-US" altLang="zh-TW" sz="2200" dirty="0">
                <a:solidFill>
                  <a:srgbClr val="002060"/>
                </a:solidFill>
                <a:latin typeface="+mj-lt"/>
                <a:ea typeface="PMingLiU" pitchFamily="18" charset="-120"/>
              </a:rPr>
              <a:t>  Enhancement </a:t>
            </a:r>
            <a:r>
              <a:rPr lang="en-US" altLang="zh-TW" sz="2200" dirty="0">
                <a:solidFill>
                  <a:srgbClr val="002060"/>
                </a:solidFill>
                <a:ea typeface="PMingLiU" pitchFamily="18" charset="-120"/>
              </a:rPr>
              <a:t>[about 80%]</a:t>
            </a:r>
            <a:endParaRPr lang="en-US" altLang="zh-TW" sz="2200" dirty="0">
              <a:solidFill>
                <a:srgbClr val="002060"/>
              </a:solidFill>
              <a:latin typeface="+mj-lt"/>
              <a:ea typeface="PMingLiU" pitchFamily="18" charset="-120"/>
            </a:endParaRPr>
          </a:p>
          <a:p>
            <a:pPr lvl="2">
              <a:lnSpc>
                <a:spcPct val="90000"/>
              </a:lnSpc>
              <a:buFontTx/>
              <a:buChar char="-"/>
            </a:pPr>
            <a:r>
              <a:rPr lang="en-US" altLang="zh-TW" sz="2200" dirty="0">
                <a:latin typeface="+mj-lt"/>
                <a:ea typeface="PMingLiU" pitchFamily="18" charset="-120"/>
              </a:rPr>
              <a:t>  </a:t>
            </a:r>
            <a:r>
              <a:rPr lang="en-US" altLang="zh-TW" sz="2200" dirty="0">
                <a:solidFill>
                  <a:srgbClr val="C00000"/>
                </a:solidFill>
                <a:latin typeface="+mj-lt"/>
                <a:ea typeface="PMingLiU" pitchFamily="18" charset="-120"/>
              </a:rPr>
              <a:t>Perfective maintenance (modification to improve usability,…) </a:t>
            </a:r>
            <a:r>
              <a:rPr lang="en-US" altLang="zh-TW" sz="2200" dirty="0">
                <a:solidFill>
                  <a:srgbClr val="002060"/>
                </a:solidFill>
                <a:latin typeface="+mj-lt"/>
                <a:ea typeface="PMingLiU" pitchFamily="18" charset="-120"/>
              </a:rPr>
              <a:t>[about 60%]</a:t>
            </a:r>
          </a:p>
          <a:p>
            <a:pPr lvl="2">
              <a:lnSpc>
                <a:spcPct val="90000"/>
              </a:lnSpc>
              <a:buFontTx/>
              <a:buChar char="-"/>
            </a:pPr>
            <a:r>
              <a:rPr lang="en-US" altLang="zh-TW" sz="2200" dirty="0">
                <a:solidFill>
                  <a:srgbClr val="C00000"/>
                </a:solidFill>
                <a:latin typeface="+mj-lt"/>
                <a:ea typeface="PMingLiU" pitchFamily="18" charset="-120"/>
              </a:rPr>
              <a:t>  Adaptive maintenance (modification to keep up-to-date) </a:t>
            </a:r>
            <a:r>
              <a:rPr lang="en-US" altLang="zh-TW" sz="2200" dirty="0">
                <a:solidFill>
                  <a:srgbClr val="002060"/>
                </a:solidFill>
                <a:latin typeface="+mj-lt"/>
                <a:ea typeface="PMingLiU" pitchFamily="18" charset="-120"/>
              </a:rPr>
              <a:t>[about 20%]</a:t>
            </a:r>
          </a:p>
          <a:p>
            <a:pPr lvl="2">
              <a:lnSpc>
                <a:spcPct val="90000"/>
              </a:lnSpc>
              <a:buFontTx/>
              <a:buChar char="-"/>
            </a:pPr>
            <a:r>
              <a:rPr lang="en-US" altLang="zh-TW" sz="2200" dirty="0">
                <a:solidFill>
                  <a:srgbClr val="C00000"/>
                </a:solidFill>
                <a:latin typeface="+mj-lt"/>
                <a:ea typeface="PMingLiU" pitchFamily="18" charset="-120"/>
              </a:rPr>
              <a:t>  Preventive maintenance (modification to avoid any future error) </a:t>
            </a:r>
            <a:r>
              <a:rPr lang="en-US" altLang="zh-TW" sz="2200" dirty="0">
                <a:solidFill>
                  <a:srgbClr val="002060"/>
                </a:solidFill>
                <a:ea typeface="PMingLiU" pitchFamily="18" charset="-120"/>
              </a:rPr>
              <a:t>[about 20%]</a:t>
            </a:r>
          </a:p>
        </p:txBody>
      </p:sp>
      <p:sp>
        <p:nvSpPr>
          <p:cNvPr id="6" name="Slide Number Placeholder 3"/>
          <p:cNvSpPr txBox="1">
            <a:spLocks/>
          </p:cNvSpPr>
          <p:nvPr/>
        </p:nvSpPr>
        <p:spPr>
          <a:xfrm>
            <a:off x="11665746" y="587829"/>
            <a:ext cx="425823" cy="1225165"/>
          </a:xfrm>
          <a:prstGeom prst="rect">
            <a:avLst/>
          </a:prstGeom>
        </p:spPr>
        <p:txBody>
          <a:bodyPr vert="vert270" lIns="91440" tIns="45720" rIns="91440" bIns="45720"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Slide - 7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43F4437-BB4E-D0B6-96B1-1E9871A28BF5}"/>
              </a:ext>
            </a:extLst>
          </p:cNvPr>
          <p:cNvSpPr txBox="1">
            <a:spLocks/>
          </p:cNvSpPr>
          <p:nvPr/>
        </p:nvSpPr>
        <p:spPr>
          <a:xfrm>
            <a:off x="11551428" y="6582157"/>
            <a:ext cx="640572" cy="2758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RM</a:t>
            </a:r>
          </a:p>
        </p:txBody>
      </p:sp>
    </p:spTree>
    <p:extLst>
      <p:ext uri="{BB962C8B-B14F-4D97-AF65-F5344CB8AC3E}">
        <p14:creationId xmlns:p14="http://schemas.microsoft.com/office/powerpoint/2010/main" val="34116846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Faults in software development phases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7947" y="1998618"/>
            <a:ext cx="10953310" cy="451974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90000"/>
              </a:lnSpc>
              <a:buFont typeface="Wingdings" pitchFamily="2" charset="2"/>
              <a:buChar char="q"/>
            </a:pPr>
            <a:r>
              <a:rPr lang="zh-TW" altLang="en-US" sz="2600" dirty="0">
                <a:latin typeface="+mj-lt"/>
                <a:ea typeface="PMingLiU" pitchFamily="18" charset="-120"/>
              </a:rPr>
              <a:t>60 </a:t>
            </a:r>
            <a:r>
              <a:rPr lang="en-US" altLang="zh-TW" sz="2600" dirty="0">
                <a:latin typeface="+mj-lt"/>
                <a:ea typeface="PMingLiU" pitchFamily="18" charset="-120"/>
              </a:rPr>
              <a:t>to 70 percent of faults are specification and design  faults</a:t>
            </a:r>
          </a:p>
          <a:p>
            <a:pPr>
              <a:lnSpc>
                <a:spcPct val="90000"/>
              </a:lnSpc>
              <a:buFont typeface="Wingdings" pitchFamily="2" charset="2"/>
              <a:buChar char="q"/>
            </a:pPr>
            <a:endParaRPr lang="en-US" altLang="zh-TW" sz="2600" dirty="0">
              <a:latin typeface="+mj-lt"/>
              <a:ea typeface="PMingLiU" pitchFamily="18" charset="-120"/>
            </a:endParaRPr>
          </a:p>
          <a:p>
            <a:pPr>
              <a:lnSpc>
                <a:spcPct val="90000"/>
              </a:lnSpc>
              <a:buFont typeface="Wingdings" pitchFamily="2" charset="2"/>
              <a:buChar char="q"/>
            </a:pPr>
            <a:r>
              <a:rPr lang="en-US" altLang="zh-TW" sz="2600" dirty="0">
                <a:solidFill>
                  <a:srgbClr val="0070C0"/>
                </a:solidFill>
                <a:latin typeface="+mj-lt"/>
                <a:ea typeface="PMingLiU" pitchFamily="18" charset="-120"/>
              </a:rPr>
              <a:t>Data of Kelly, </a:t>
            </a:r>
            <a:r>
              <a:rPr lang="en-US" altLang="zh-TW" sz="2600" dirty="0" err="1">
                <a:solidFill>
                  <a:srgbClr val="0070C0"/>
                </a:solidFill>
                <a:latin typeface="+mj-lt"/>
                <a:ea typeface="PMingLiU" pitchFamily="18" charset="-120"/>
              </a:rPr>
              <a:t>Sherif</a:t>
            </a:r>
            <a:r>
              <a:rPr lang="en-US" altLang="zh-TW" sz="2600" dirty="0">
                <a:solidFill>
                  <a:srgbClr val="0070C0"/>
                </a:solidFill>
                <a:latin typeface="+mj-lt"/>
                <a:ea typeface="PMingLiU" pitchFamily="18" charset="-120"/>
              </a:rPr>
              <a:t>, and Hops [1992]</a:t>
            </a:r>
          </a:p>
          <a:p>
            <a:pPr lvl="1">
              <a:lnSpc>
                <a:spcPct val="90000"/>
              </a:lnSpc>
              <a:buFont typeface="Wingdings" pitchFamily="2" charset="2"/>
              <a:buChar char="§"/>
            </a:pPr>
            <a:r>
              <a:rPr lang="en-US" altLang="zh-TW" sz="2600" dirty="0">
                <a:solidFill>
                  <a:srgbClr val="C00000"/>
                </a:solidFill>
                <a:latin typeface="+mj-lt"/>
                <a:ea typeface="PMingLiU" pitchFamily="18" charset="-120"/>
              </a:rPr>
              <a:t>  1.9 faults per page of specification</a:t>
            </a:r>
          </a:p>
          <a:p>
            <a:pPr lvl="1">
              <a:lnSpc>
                <a:spcPct val="90000"/>
              </a:lnSpc>
              <a:buFont typeface="Wingdings" pitchFamily="2" charset="2"/>
              <a:buChar char="§"/>
            </a:pPr>
            <a:r>
              <a:rPr lang="en-US" altLang="zh-TW" sz="2600" dirty="0">
                <a:solidFill>
                  <a:srgbClr val="C00000"/>
                </a:solidFill>
                <a:latin typeface="+mj-lt"/>
                <a:ea typeface="PMingLiU" pitchFamily="18" charset="-120"/>
              </a:rPr>
              <a:t>  0.9 faults per page of design</a:t>
            </a:r>
          </a:p>
          <a:p>
            <a:pPr lvl="1">
              <a:lnSpc>
                <a:spcPct val="90000"/>
              </a:lnSpc>
              <a:buFont typeface="Wingdings" pitchFamily="2" charset="2"/>
              <a:buChar char="§"/>
            </a:pPr>
            <a:r>
              <a:rPr lang="en-US" altLang="zh-TW" sz="2600" dirty="0">
                <a:solidFill>
                  <a:srgbClr val="C00000"/>
                </a:solidFill>
                <a:latin typeface="+mj-lt"/>
                <a:ea typeface="PMingLiU" pitchFamily="18" charset="-120"/>
              </a:rPr>
              <a:t>  0.3 faults per page of code</a:t>
            </a:r>
          </a:p>
          <a:p>
            <a:pPr>
              <a:lnSpc>
                <a:spcPct val="90000"/>
              </a:lnSpc>
            </a:pPr>
            <a:endParaRPr lang="en-US" altLang="zh-TW" sz="2600" dirty="0">
              <a:latin typeface="+mj-lt"/>
              <a:ea typeface="PMingLiU" pitchFamily="18" charset="-120"/>
            </a:endParaRPr>
          </a:p>
          <a:p>
            <a:pPr>
              <a:lnSpc>
                <a:spcPct val="90000"/>
              </a:lnSpc>
              <a:buFont typeface="Wingdings" pitchFamily="2" charset="2"/>
              <a:buChar char="q"/>
            </a:pPr>
            <a:r>
              <a:rPr lang="en-US" altLang="zh-TW" sz="2600" dirty="0">
                <a:solidFill>
                  <a:srgbClr val="0070C0"/>
                </a:solidFill>
                <a:latin typeface="+mj-lt"/>
                <a:ea typeface="PMingLiU" pitchFamily="18" charset="-120"/>
              </a:rPr>
              <a:t>Data of Bhandari et al. [1994]</a:t>
            </a:r>
          </a:p>
          <a:p>
            <a:pPr>
              <a:lnSpc>
                <a:spcPct val="90000"/>
              </a:lnSpc>
              <a:buNone/>
            </a:pPr>
            <a:r>
              <a:rPr lang="en-US" altLang="zh-TW" sz="2600" b="1" dirty="0">
                <a:solidFill>
                  <a:srgbClr val="C00000"/>
                </a:solidFill>
                <a:latin typeface="+mj-lt"/>
                <a:ea typeface="PMingLiU" pitchFamily="18" charset="-120"/>
              </a:rPr>
              <a:t>      </a:t>
            </a:r>
            <a:r>
              <a:rPr lang="en-US" altLang="zh-TW" sz="2600" dirty="0">
                <a:latin typeface="+mj-lt"/>
                <a:ea typeface="PMingLiU" pitchFamily="18" charset="-120"/>
              </a:rPr>
              <a:t>Faults at end of the design phase of the new version of the product</a:t>
            </a:r>
          </a:p>
          <a:p>
            <a:pPr lvl="1">
              <a:lnSpc>
                <a:spcPct val="90000"/>
              </a:lnSpc>
            </a:pPr>
            <a:r>
              <a:rPr lang="en-US" altLang="zh-TW" sz="2600" dirty="0">
                <a:solidFill>
                  <a:srgbClr val="C00000"/>
                </a:solidFill>
                <a:latin typeface="+mj-lt"/>
                <a:ea typeface="PMingLiU" pitchFamily="18" charset="-120"/>
              </a:rPr>
              <a:t>13% of faults from previous version of product</a:t>
            </a:r>
          </a:p>
          <a:p>
            <a:pPr lvl="1">
              <a:lnSpc>
                <a:spcPct val="90000"/>
              </a:lnSpc>
            </a:pPr>
            <a:r>
              <a:rPr lang="en-US" altLang="zh-TW" sz="2600" dirty="0">
                <a:solidFill>
                  <a:srgbClr val="C00000"/>
                </a:solidFill>
                <a:latin typeface="+mj-lt"/>
                <a:ea typeface="PMingLiU" pitchFamily="18" charset="-120"/>
              </a:rPr>
              <a:t>16% of faults in new specifications</a:t>
            </a:r>
          </a:p>
          <a:p>
            <a:pPr lvl="1">
              <a:lnSpc>
                <a:spcPct val="90000"/>
              </a:lnSpc>
            </a:pPr>
            <a:r>
              <a:rPr lang="en-US" altLang="zh-TW" sz="2600" dirty="0">
                <a:solidFill>
                  <a:srgbClr val="C00000"/>
                </a:solidFill>
                <a:latin typeface="+mj-lt"/>
                <a:ea typeface="PMingLiU" pitchFamily="18" charset="-120"/>
              </a:rPr>
              <a:t>71% of faults in new design</a:t>
            </a:r>
            <a:endParaRPr lang="en-US" altLang="zh-TW" sz="2200" dirty="0">
              <a:solidFill>
                <a:srgbClr val="00B050"/>
              </a:solidFill>
              <a:latin typeface="+mj-lt"/>
              <a:ea typeface="PMingLiU" pitchFamily="18" charset="-120"/>
            </a:endParaRPr>
          </a:p>
        </p:txBody>
      </p:sp>
      <p:sp>
        <p:nvSpPr>
          <p:cNvPr id="6" name="Slide Number Placeholder 3"/>
          <p:cNvSpPr txBox="1">
            <a:spLocks/>
          </p:cNvSpPr>
          <p:nvPr/>
        </p:nvSpPr>
        <p:spPr>
          <a:xfrm>
            <a:off x="11665746" y="587829"/>
            <a:ext cx="425823" cy="1225165"/>
          </a:xfrm>
          <a:prstGeom prst="rect">
            <a:avLst/>
          </a:prstGeom>
        </p:spPr>
        <p:txBody>
          <a:bodyPr vert="vert270" lIns="91440" tIns="45720" rIns="91440" bIns="45720"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Slide - 8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1A5527B-1A92-9FCD-F5D8-1A8423289D66}"/>
              </a:ext>
            </a:extLst>
          </p:cNvPr>
          <p:cNvSpPr txBox="1">
            <a:spLocks/>
          </p:cNvSpPr>
          <p:nvPr/>
        </p:nvSpPr>
        <p:spPr>
          <a:xfrm>
            <a:off x="11551428" y="6582157"/>
            <a:ext cx="640572" cy="2758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RM</a:t>
            </a:r>
          </a:p>
        </p:txBody>
      </p:sp>
    </p:spTree>
    <p:extLst>
      <p:ext uri="{BB962C8B-B14F-4D97-AF65-F5344CB8AC3E}">
        <p14:creationId xmlns:p14="http://schemas.microsoft.com/office/powerpoint/2010/main" val="34116846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Cost of detection &amp; correction of a fault</a:t>
            </a:r>
          </a:p>
        </p:txBody>
      </p:sp>
      <p:graphicFrame>
        <p:nvGraphicFramePr>
          <p:cNvPr id="1026" name="Object 4"/>
          <p:cNvGraphicFramePr>
            <a:graphicFrameLocks noChangeAspect="1"/>
          </p:cNvGraphicFramePr>
          <p:nvPr/>
        </p:nvGraphicFramePr>
        <p:xfrm>
          <a:off x="1038496" y="2022566"/>
          <a:ext cx="10182497" cy="45872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hoto Editor Photo" r:id="rId2" imgW="4809524" imgH="3734321" progId="">
                  <p:embed/>
                </p:oleObj>
              </mc:Choice>
              <mc:Fallback>
                <p:oleObj name="Photo Editor Photo" r:id="rId2" imgW="4809524" imgH="3734321" progId="">
                  <p:embed/>
                  <p:pic>
                    <p:nvPicPr>
                      <p:cNvPr id="102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038496" y="2022566"/>
                        <a:ext cx="10182497" cy="458724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12700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Slide Number Placeholder 3"/>
          <p:cNvSpPr txBox="1">
            <a:spLocks/>
          </p:cNvSpPr>
          <p:nvPr/>
        </p:nvSpPr>
        <p:spPr>
          <a:xfrm>
            <a:off x="11665746" y="587829"/>
            <a:ext cx="425823" cy="1225165"/>
          </a:xfrm>
          <a:prstGeom prst="rect">
            <a:avLst/>
          </a:prstGeom>
        </p:spPr>
        <p:txBody>
          <a:bodyPr vert="vert270" lIns="91440" tIns="45720" rIns="91440" bIns="45720"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Slide - </a:t>
            </a:r>
            <a:r>
              <a:rPr lang="en-US" sz="1400" b="1" dirty="0">
                <a:solidFill>
                  <a:schemeClr val="accent2"/>
                </a:solidFill>
              </a:rPr>
              <a:t>9</a:t>
            </a:r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A1A92BF-C439-B5DA-6DA8-60F0A561BFD3}"/>
              </a:ext>
            </a:extLst>
          </p:cNvPr>
          <p:cNvSpPr txBox="1">
            <a:spLocks/>
          </p:cNvSpPr>
          <p:nvPr/>
        </p:nvSpPr>
        <p:spPr>
          <a:xfrm>
            <a:off x="11551428" y="6582157"/>
            <a:ext cx="640572" cy="2758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RM</a:t>
            </a:r>
          </a:p>
        </p:txBody>
      </p:sp>
    </p:spTree>
    <p:extLst>
      <p:ext uri="{BB962C8B-B14F-4D97-AF65-F5344CB8AC3E}">
        <p14:creationId xmlns:p14="http://schemas.microsoft.com/office/powerpoint/2010/main" val="3411684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Software application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2436" y="2103121"/>
            <a:ext cx="10953310" cy="4310742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solidFill>
                  <a:srgbClr val="C00000"/>
                </a:solidFill>
                <a:latin typeface="Bell MT" pitchFamily="18" charset="0"/>
              </a:rPr>
              <a:t>   </a:t>
            </a:r>
            <a:r>
              <a:rPr lang="en-US" altLang="zh-TW" sz="2200" dirty="0">
                <a:solidFill>
                  <a:srgbClr val="C00000"/>
                </a:solidFill>
                <a:latin typeface="+mj-lt"/>
              </a:rPr>
              <a:t>System software </a:t>
            </a:r>
            <a:r>
              <a:rPr lang="en-US" altLang="zh-TW" sz="2200" dirty="0">
                <a:latin typeface="+mj-lt"/>
              </a:rPr>
              <a:t>(control computer hardware such as OS)</a:t>
            </a:r>
          </a:p>
          <a:p>
            <a:r>
              <a:rPr lang="en-US" altLang="zh-TW" sz="2200" dirty="0">
                <a:solidFill>
                  <a:srgbClr val="C00000"/>
                </a:solidFill>
                <a:latin typeface="+mj-lt"/>
              </a:rPr>
              <a:t>   Business software</a:t>
            </a:r>
            <a:r>
              <a:rPr lang="en-US" altLang="zh-TW" sz="2200" dirty="0">
                <a:latin typeface="+mj-lt"/>
              </a:rPr>
              <a:t> (commercial application for business users [SAP, ERP])</a:t>
            </a:r>
          </a:p>
          <a:p>
            <a:pPr lvl="8"/>
            <a:r>
              <a:rPr lang="en-US" altLang="zh-TW" sz="1600" dirty="0">
                <a:latin typeface="+mj-lt"/>
              </a:rPr>
              <a:t>Systems, Applications, and Products</a:t>
            </a:r>
          </a:p>
          <a:p>
            <a:pPr lvl="8"/>
            <a:r>
              <a:rPr lang="en-US" altLang="zh-TW" sz="1600" dirty="0">
                <a:latin typeface="+mj-lt"/>
              </a:rPr>
              <a:t>Enterprise Resource Planning</a:t>
            </a:r>
          </a:p>
          <a:p>
            <a:r>
              <a:rPr lang="en-US" altLang="zh-TW" sz="2200" dirty="0">
                <a:latin typeface="+mj-lt"/>
              </a:rPr>
              <a:t>   </a:t>
            </a:r>
            <a:r>
              <a:rPr lang="en-US" altLang="zh-TW" sz="2200" dirty="0">
                <a:solidFill>
                  <a:srgbClr val="C00000"/>
                </a:solidFill>
                <a:latin typeface="+mj-lt"/>
              </a:rPr>
              <a:t>Engineering and scientific software </a:t>
            </a:r>
            <a:r>
              <a:rPr lang="en-US" altLang="zh-TW" sz="2200" dirty="0">
                <a:latin typeface="+mj-lt"/>
              </a:rPr>
              <a:t>(e.g. statistical analysis-SPSS, </a:t>
            </a:r>
            <a:r>
              <a:rPr lang="en-US" altLang="zh-TW" sz="2200" dirty="0" err="1">
                <a:latin typeface="+mj-lt"/>
              </a:rPr>
              <a:t>Matlab</a:t>
            </a:r>
            <a:r>
              <a:rPr lang="en-US" altLang="zh-TW" sz="2200" dirty="0">
                <a:latin typeface="+mj-lt"/>
              </a:rPr>
              <a:t>)</a:t>
            </a:r>
          </a:p>
          <a:p>
            <a:r>
              <a:rPr lang="en-US" altLang="zh-TW" sz="2200" dirty="0">
                <a:latin typeface="+mj-lt"/>
              </a:rPr>
              <a:t>   </a:t>
            </a:r>
            <a:r>
              <a:rPr lang="en-US" altLang="zh-TW" sz="2200" dirty="0">
                <a:solidFill>
                  <a:srgbClr val="C00000"/>
                </a:solidFill>
                <a:latin typeface="+mj-lt"/>
              </a:rPr>
              <a:t>Embedded software </a:t>
            </a:r>
            <a:r>
              <a:rPr lang="en-US" altLang="zh-TW" sz="2200" dirty="0">
                <a:latin typeface="+mj-lt"/>
              </a:rPr>
              <a:t>(e.g. biometric device)</a:t>
            </a:r>
          </a:p>
          <a:p>
            <a:r>
              <a:rPr lang="en-US" altLang="zh-TW" sz="2200" dirty="0">
                <a:latin typeface="+mj-lt"/>
              </a:rPr>
              <a:t>   </a:t>
            </a:r>
            <a:r>
              <a:rPr lang="en-US" altLang="zh-TW" sz="2200" dirty="0">
                <a:solidFill>
                  <a:srgbClr val="C00000"/>
                </a:solidFill>
                <a:latin typeface="+mj-lt"/>
              </a:rPr>
              <a:t>Personal computer software </a:t>
            </a:r>
            <a:r>
              <a:rPr lang="en-US" altLang="zh-TW" sz="2200" dirty="0">
                <a:latin typeface="+mj-lt"/>
              </a:rPr>
              <a:t>(e.g. Microsoft Office)</a:t>
            </a:r>
          </a:p>
          <a:p>
            <a:r>
              <a:rPr lang="en-US" altLang="zh-TW" sz="2200" dirty="0">
                <a:latin typeface="+mj-lt"/>
              </a:rPr>
              <a:t>   </a:t>
            </a:r>
            <a:r>
              <a:rPr lang="en-US" altLang="zh-TW" sz="2200" dirty="0">
                <a:solidFill>
                  <a:srgbClr val="C00000"/>
                </a:solidFill>
                <a:latin typeface="+mj-lt"/>
              </a:rPr>
              <a:t>Web-based software </a:t>
            </a:r>
            <a:r>
              <a:rPr lang="en-US" altLang="zh-TW" sz="2200" dirty="0">
                <a:latin typeface="+mj-lt"/>
              </a:rPr>
              <a:t>(use over the internet with a browser, e.g. Gmail) </a:t>
            </a:r>
          </a:p>
          <a:p>
            <a:r>
              <a:rPr lang="en-US" altLang="zh-TW" sz="2200" dirty="0">
                <a:latin typeface="+mj-lt"/>
              </a:rPr>
              <a:t>   </a:t>
            </a:r>
            <a:r>
              <a:rPr lang="en-US" altLang="zh-TW" sz="2200" dirty="0">
                <a:solidFill>
                  <a:srgbClr val="C00000"/>
                </a:solidFill>
                <a:latin typeface="+mj-lt"/>
              </a:rPr>
              <a:t>Artificial intelligence software </a:t>
            </a:r>
            <a:r>
              <a:rPr lang="en-US" altLang="zh-TW" sz="2200" dirty="0">
                <a:latin typeface="+mj-lt"/>
              </a:rPr>
              <a:t>(e.g. HCI, Google AI)</a:t>
            </a:r>
          </a:p>
          <a:p>
            <a:pPr>
              <a:lnSpc>
                <a:spcPct val="90000"/>
              </a:lnSpc>
              <a:buFont typeface="Wingdings" pitchFamily="2" charset="2"/>
              <a:buChar char="q"/>
            </a:pPr>
            <a:endParaRPr lang="en-US" altLang="zh-TW" sz="2200" dirty="0">
              <a:solidFill>
                <a:srgbClr val="00B050"/>
              </a:solidFill>
              <a:latin typeface="+mj-lt"/>
              <a:ea typeface="PMingLiU" pitchFamily="18" charset="-120"/>
            </a:endParaRPr>
          </a:p>
        </p:txBody>
      </p:sp>
      <p:sp>
        <p:nvSpPr>
          <p:cNvPr id="6" name="Slide Number Placeholder 3"/>
          <p:cNvSpPr txBox="1">
            <a:spLocks/>
          </p:cNvSpPr>
          <p:nvPr/>
        </p:nvSpPr>
        <p:spPr>
          <a:xfrm>
            <a:off x="11665746" y="587829"/>
            <a:ext cx="425823" cy="1225165"/>
          </a:xfrm>
          <a:prstGeom prst="rect">
            <a:avLst/>
          </a:prstGeom>
        </p:spPr>
        <p:txBody>
          <a:bodyPr vert="vert270" lIns="91440" tIns="45720" rIns="91440" bIns="45720"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Slide - 10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6A708E2-E46B-4881-38E6-B24187D0FB1B}"/>
              </a:ext>
            </a:extLst>
          </p:cNvPr>
          <p:cNvSpPr txBox="1">
            <a:spLocks/>
          </p:cNvSpPr>
          <p:nvPr/>
        </p:nvSpPr>
        <p:spPr>
          <a:xfrm>
            <a:off x="11551428" y="6582157"/>
            <a:ext cx="640572" cy="2758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RM</a:t>
            </a:r>
          </a:p>
        </p:txBody>
      </p:sp>
    </p:spTree>
    <p:extLst>
      <p:ext uri="{BB962C8B-B14F-4D97-AF65-F5344CB8AC3E}">
        <p14:creationId xmlns:p14="http://schemas.microsoft.com/office/powerpoint/2010/main" val="34116846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Software Myths (management)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4074" y="2129246"/>
            <a:ext cx="10953310" cy="4206240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altLang="zh-TW" sz="2200" dirty="0">
                <a:solidFill>
                  <a:srgbClr val="FF0000"/>
                </a:solidFill>
              </a:rPr>
              <a:t>Myth 1:</a:t>
            </a:r>
            <a:r>
              <a:rPr lang="en-US" altLang="zh-TW" sz="2200" i="1" dirty="0"/>
              <a:t> </a:t>
            </a:r>
            <a:r>
              <a:rPr lang="en-US" altLang="zh-TW" sz="2200" dirty="0">
                <a:latin typeface="+mj-lt"/>
              </a:rPr>
              <a:t>We already have a book </a:t>
            </a:r>
            <a:r>
              <a:rPr lang="en-US" altLang="zh-TW" sz="2200" dirty="0">
                <a:solidFill>
                  <a:srgbClr val="C00000"/>
                </a:solidFill>
                <a:latin typeface="+mj-lt"/>
              </a:rPr>
              <a:t>full of standards and procedures </a:t>
            </a:r>
            <a:r>
              <a:rPr lang="en-US" altLang="zh-TW" sz="2200" dirty="0">
                <a:latin typeface="+mj-lt"/>
              </a:rPr>
              <a:t>for building software. Wouldn’t that provide my people with everything they need to know?</a:t>
            </a:r>
          </a:p>
          <a:p>
            <a:pPr>
              <a:defRPr/>
            </a:pPr>
            <a:r>
              <a:rPr lang="en-US" altLang="zh-TW" sz="2200" dirty="0">
                <a:solidFill>
                  <a:srgbClr val="FF0000"/>
                </a:solidFill>
                <a:latin typeface="+mj-lt"/>
              </a:rPr>
              <a:t>Myth 2</a:t>
            </a:r>
            <a:r>
              <a:rPr lang="en-US" altLang="zh-TW" sz="2200" dirty="0">
                <a:solidFill>
                  <a:srgbClr val="FF0000"/>
                </a:solidFill>
              </a:rPr>
              <a:t>:</a:t>
            </a:r>
            <a:r>
              <a:rPr lang="en-US" altLang="zh-TW" sz="2200" dirty="0">
                <a:latin typeface="+mj-lt"/>
              </a:rPr>
              <a:t> My people have </a:t>
            </a:r>
            <a:r>
              <a:rPr lang="en-US" altLang="zh-TW" sz="2200" dirty="0">
                <a:solidFill>
                  <a:srgbClr val="C00000"/>
                </a:solidFill>
                <a:latin typeface="+mj-lt"/>
              </a:rPr>
              <a:t>state-of-the-art software development tools; </a:t>
            </a:r>
            <a:r>
              <a:rPr lang="en-US" altLang="zh-TW" sz="2200" dirty="0">
                <a:latin typeface="+mj-lt"/>
              </a:rPr>
              <a:t>we buy them the newest computers.</a:t>
            </a:r>
            <a:br>
              <a:rPr lang="en-US" altLang="zh-TW" sz="2200" dirty="0">
                <a:latin typeface="+mj-lt"/>
              </a:rPr>
            </a:br>
            <a:endParaRPr lang="zh-TW" altLang="en-US" sz="2200" dirty="0">
              <a:latin typeface="+mj-lt"/>
            </a:endParaRPr>
          </a:p>
          <a:p>
            <a:pPr>
              <a:defRPr/>
            </a:pPr>
            <a:r>
              <a:rPr lang="en-US" altLang="zh-TW" sz="2200" dirty="0">
                <a:solidFill>
                  <a:srgbClr val="FF0000"/>
                </a:solidFill>
                <a:latin typeface="+mj-lt"/>
              </a:rPr>
              <a:t>Myth 3</a:t>
            </a:r>
            <a:r>
              <a:rPr lang="en-US" altLang="zh-TW" sz="2200" dirty="0">
                <a:solidFill>
                  <a:srgbClr val="FF0000"/>
                </a:solidFill>
              </a:rPr>
              <a:t>: </a:t>
            </a:r>
            <a:r>
              <a:rPr lang="en-US" altLang="zh-TW" sz="2200" dirty="0">
                <a:latin typeface="+mj-lt"/>
              </a:rPr>
              <a:t>If we get behind schedule, we can add </a:t>
            </a:r>
            <a:r>
              <a:rPr lang="en-US" altLang="zh-TW" sz="2200" dirty="0">
                <a:solidFill>
                  <a:srgbClr val="C00000"/>
                </a:solidFill>
                <a:latin typeface="+mj-lt"/>
              </a:rPr>
              <a:t>more programmers </a:t>
            </a:r>
            <a:r>
              <a:rPr lang="en-US" altLang="zh-TW" sz="2200" dirty="0">
                <a:latin typeface="+mj-lt"/>
              </a:rPr>
              <a:t>and catch up.</a:t>
            </a:r>
            <a:br>
              <a:rPr lang="en-US" altLang="zh-TW" sz="2200" dirty="0">
                <a:latin typeface="+mj-lt"/>
              </a:rPr>
            </a:br>
            <a:endParaRPr lang="en-US" altLang="zh-TW" sz="2200" dirty="0">
              <a:latin typeface="+mj-lt"/>
            </a:endParaRPr>
          </a:p>
          <a:p>
            <a:pPr>
              <a:defRPr/>
            </a:pPr>
            <a:r>
              <a:rPr lang="en-US" altLang="zh-TW" sz="2200" dirty="0">
                <a:solidFill>
                  <a:srgbClr val="FF0000"/>
                </a:solidFill>
                <a:latin typeface="+mj-lt"/>
              </a:rPr>
              <a:t>Myth 4</a:t>
            </a:r>
            <a:r>
              <a:rPr lang="en-US" altLang="zh-TW" sz="2200" dirty="0">
                <a:solidFill>
                  <a:srgbClr val="FF0000"/>
                </a:solidFill>
              </a:rPr>
              <a:t>:</a:t>
            </a:r>
            <a:r>
              <a:rPr lang="en-US" altLang="zh-TW" sz="2200" i="1" dirty="0">
                <a:solidFill>
                  <a:srgbClr val="FF0000"/>
                </a:solidFill>
                <a:latin typeface="+mj-lt"/>
              </a:rPr>
              <a:t> </a:t>
            </a:r>
            <a:r>
              <a:rPr lang="en-US" altLang="zh-TW" sz="2200" dirty="0">
                <a:latin typeface="+mj-lt"/>
              </a:rPr>
              <a:t>If I outsource the software </a:t>
            </a:r>
            <a:r>
              <a:rPr lang="en-US" altLang="zh-TW" sz="2200" dirty="0">
                <a:solidFill>
                  <a:srgbClr val="C00000"/>
                </a:solidFill>
                <a:latin typeface="+mj-lt"/>
              </a:rPr>
              <a:t>project to a third party, </a:t>
            </a:r>
            <a:r>
              <a:rPr lang="en-US" altLang="zh-TW" sz="2200" dirty="0">
                <a:latin typeface="+mj-lt"/>
              </a:rPr>
              <a:t>I can relax and let that firm build it.</a:t>
            </a:r>
          </a:p>
          <a:p>
            <a:endParaRPr lang="en-US" altLang="zh-TW" sz="2200" dirty="0">
              <a:solidFill>
                <a:srgbClr val="00B050"/>
              </a:solidFill>
              <a:latin typeface="+mj-lt"/>
              <a:ea typeface="PMingLiU" pitchFamily="18" charset="-120"/>
            </a:endParaRPr>
          </a:p>
        </p:txBody>
      </p:sp>
      <p:sp>
        <p:nvSpPr>
          <p:cNvPr id="6" name="Slide Number Placeholder 3"/>
          <p:cNvSpPr txBox="1">
            <a:spLocks/>
          </p:cNvSpPr>
          <p:nvPr/>
        </p:nvSpPr>
        <p:spPr>
          <a:xfrm>
            <a:off x="11665746" y="587829"/>
            <a:ext cx="425823" cy="1225165"/>
          </a:xfrm>
          <a:prstGeom prst="rect">
            <a:avLst/>
          </a:prstGeom>
        </p:spPr>
        <p:txBody>
          <a:bodyPr vert="vert270" lIns="91440" tIns="45720" rIns="91440" bIns="45720"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Slide - 11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86BA8D7-B2BF-878A-7F0C-E10F2B006CC1}"/>
              </a:ext>
            </a:extLst>
          </p:cNvPr>
          <p:cNvSpPr txBox="1">
            <a:spLocks/>
          </p:cNvSpPr>
          <p:nvPr/>
        </p:nvSpPr>
        <p:spPr>
          <a:xfrm>
            <a:off x="11551428" y="6582157"/>
            <a:ext cx="640572" cy="2758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RM</a:t>
            </a:r>
          </a:p>
        </p:txBody>
      </p:sp>
    </p:spTree>
    <p:extLst>
      <p:ext uri="{BB962C8B-B14F-4D97-AF65-F5344CB8AC3E}">
        <p14:creationId xmlns:p14="http://schemas.microsoft.com/office/powerpoint/2010/main" val="34116846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Software Myths </a:t>
            </a:r>
            <a:r>
              <a:rPr lang="en-GB"/>
              <a:t>(client)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4074" y="2129246"/>
            <a:ext cx="10953310" cy="3004457"/>
          </a:xfrm>
        </p:spPr>
        <p:txBody>
          <a:bodyPr>
            <a:normAutofit/>
          </a:bodyPr>
          <a:lstStyle/>
          <a:p>
            <a:r>
              <a:rPr lang="en-US" altLang="zh-TW" sz="2200" dirty="0">
                <a:solidFill>
                  <a:srgbClr val="FF0000"/>
                </a:solidFill>
                <a:latin typeface="+mj-lt"/>
              </a:rPr>
              <a:t>Myth 1: </a:t>
            </a:r>
            <a:r>
              <a:rPr lang="en-US" altLang="zh-TW" sz="2200" dirty="0">
                <a:latin typeface="+mj-lt"/>
              </a:rPr>
              <a:t>A </a:t>
            </a:r>
            <a:r>
              <a:rPr lang="en-US" altLang="zh-TW" sz="2200" dirty="0">
                <a:solidFill>
                  <a:srgbClr val="7030A0"/>
                </a:solidFill>
                <a:latin typeface="+mj-lt"/>
              </a:rPr>
              <a:t>general statement </a:t>
            </a:r>
            <a:r>
              <a:rPr lang="en-US" altLang="zh-TW" sz="2200" dirty="0">
                <a:latin typeface="+mj-lt"/>
              </a:rPr>
              <a:t>of objectives is sufficient to begin writing programs – we can fill in the details later.</a:t>
            </a:r>
            <a:br>
              <a:rPr lang="en-US" altLang="zh-TW" sz="2200" dirty="0">
                <a:latin typeface="+mj-lt"/>
              </a:rPr>
            </a:br>
            <a:endParaRPr lang="en-US" altLang="zh-TW" sz="2200" dirty="0">
              <a:latin typeface="+mj-lt"/>
            </a:endParaRPr>
          </a:p>
          <a:p>
            <a:r>
              <a:rPr lang="en-US" altLang="zh-TW" sz="2200" dirty="0">
                <a:solidFill>
                  <a:srgbClr val="FF0000"/>
                </a:solidFill>
                <a:latin typeface="+mj-lt"/>
              </a:rPr>
              <a:t>Myth 2:</a:t>
            </a:r>
            <a:r>
              <a:rPr lang="en-US" altLang="zh-TW" sz="2200" dirty="0">
                <a:latin typeface="+mj-lt"/>
              </a:rPr>
              <a:t> Project requirements continually change, but </a:t>
            </a:r>
            <a:r>
              <a:rPr lang="en-US" altLang="zh-TW" sz="2200" dirty="0">
                <a:solidFill>
                  <a:srgbClr val="7030A0"/>
                </a:solidFill>
                <a:latin typeface="+mj-lt"/>
              </a:rPr>
              <a:t>change can be easily accommodated </a:t>
            </a:r>
            <a:r>
              <a:rPr lang="en-US" altLang="zh-TW" sz="2200" dirty="0">
                <a:latin typeface="+mj-lt"/>
              </a:rPr>
              <a:t>because software is flexible.</a:t>
            </a:r>
          </a:p>
          <a:p>
            <a:pPr>
              <a:defRPr/>
            </a:pPr>
            <a:endParaRPr lang="en-US" altLang="zh-TW" sz="2200" dirty="0">
              <a:solidFill>
                <a:srgbClr val="00B050"/>
              </a:solidFill>
              <a:latin typeface="+mj-lt"/>
              <a:ea typeface="PMingLiU" pitchFamily="18" charset="-120"/>
            </a:endParaRPr>
          </a:p>
        </p:txBody>
      </p:sp>
      <p:sp>
        <p:nvSpPr>
          <p:cNvPr id="6" name="Slide Number Placeholder 3"/>
          <p:cNvSpPr txBox="1">
            <a:spLocks/>
          </p:cNvSpPr>
          <p:nvPr/>
        </p:nvSpPr>
        <p:spPr>
          <a:xfrm>
            <a:off x="11665746" y="587829"/>
            <a:ext cx="425823" cy="1225165"/>
          </a:xfrm>
          <a:prstGeom prst="rect">
            <a:avLst/>
          </a:prstGeom>
        </p:spPr>
        <p:txBody>
          <a:bodyPr vert="vert270" lIns="91440" tIns="45720" rIns="91440" bIns="45720"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Slide - 12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DC9FB57-00F2-D2E7-4EC6-9EE8E146CDE7}"/>
              </a:ext>
            </a:extLst>
          </p:cNvPr>
          <p:cNvSpPr txBox="1">
            <a:spLocks/>
          </p:cNvSpPr>
          <p:nvPr/>
        </p:nvSpPr>
        <p:spPr>
          <a:xfrm>
            <a:off x="11551428" y="6582157"/>
            <a:ext cx="640572" cy="2758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RM</a:t>
            </a:r>
          </a:p>
        </p:txBody>
      </p:sp>
    </p:spTree>
    <p:extLst>
      <p:ext uri="{BB962C8B-B14F-4D97-AF65-F5344CB8AC3E}">
        <p14:creationId xmlns:p14="http://schemas.microsoft.com/office/powerpoint/2010/main" val="34116846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Software Myths (professional)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0200" y="2063932"/>
            <a:ext cx="10953310" cy="4206239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zh-TW" sz="2200" dirty="0">
                <a:solidFill>
                  <a:srgbClr val="FF0000"/>
                </a:solidFill>
                <a:latin typeface="+mj-lt"/>
              </a:rPr>
              <a:t>Myth 1:</a:t>
            </a:r>
            <a:r>
              <a:rPr lang="en-US" altLang="zh-TW" sz="2200" dirty="0">
                <a:latin typeface="+mj-lt"/>
              </a:rPr>
              <a:t> Our job is done once we write the program and get it to work.</a:t>
            </a:r>
            <a:br>
              <a:rPr lang="en-US" altLang="zh-TW" sz="2200" dirty="0">
                <a:latin typeface="+mj-lt"/>
              </a:rPr>
            </a:br>
            <a:endParaRPr lang="en-US" altLang="zh-TW" sz="2200" dirty="0">
              <a:latin typeface="+mj-lt"/>
            </a:endParaRPr>
          </a:p>
          <a:p>
            <a:pPr lvl="1">
              <a:lnSpc>
                <a:spcPct val="90000"/>
              </a:lnSpc>
              <a:buNone/>
            </a:pPr>
            <a:r>
              <a:rPr lang="en-US" altLang="zh-TW" sz="2200" i="1" dirty="0">
                <a:latin typeface="+mj-lt"/>
              </a:rPr>
              <a:t>Fact: </a:t>
            </a:r>
            <a:r>
              <a:rPr lang="en-US" altLang="zh-TW" sz="2200" i="1" dirty="0">
                <a:solidFill>
                  <a:srgbClr val="FF0000"/>
                </a:solidFill>
                <a:latin typeface="+mj-lt"/>
              </a:rPr>
              <a:t>the sooner you begin writing code, the longer it will take you to get done.</a:t>
            </a:r>
            <a:br>
              <a:rPr lang="en-US" altLang="zh-TW" sz="2200" i="1" dirty="0">
                <a:solidFill>
                  <a:srgbClr val="FF0000"/>
                </a:solidFill>
                <a:latin typeface="+mj-lt"/>
              </a:rPr>
            </a:br>
            <a:endParaRPr lang="en-US" altLang="zh-TW" sz="2200" dirty="0">
              <a:latin typeface="+mj-lt"/>
            </a:endParaRPr>
          </a:p>
          <a:p>
            <a:pPr>
              <a:lnSpc>
                <a:spcPct val="90000"/>
              </a:lnSpc>
            </a:pPr>
            <a:r>
              <a:rPr lang="en-US" altLang="zh-TW" sz="2200" dirty="0">
                <a:solidFill>
                  <a:srgbClr val="FF0000"/>
                </a:solidFill>
                <a:latin typeface="+mj-lt"/>
              </a:rPr>
              <a:t>Myth 2: </a:t>
            </a:r>
            <a:r>
              <a:rPr lang="en-US" altLang="zh-TW" sz="2200" dirty="0">
                <a:latin typeface="+mj-lt"/>
              </a:rPr>
              <a:t>I cannot assess the program's quality until it is “running. "</a:t>
            </a:r>
            <a:br>
              <a:rPr lang="en-US" altLang="zh-TW" sz="2200" dirty="0">
                <a:latin typeface="+mj-lt"/>
              </a:rPr>
            </a:br>
            <a:endParaRPr lang="en-US" altLang="zh-TW" sz="2200" dirty="0">
              <a:latin typeface="+mj-lt"/>
            </a:endParaRPr>
          </a:p>
          <a:p>
            <a:pPr>
              <a:lnSpc>
                <a:spcPct val="90000"/>
              </a:lnSpc>
            </a:pPr>
            <a:r>
              <a:rPr lang="en-US" altLang="zh-TW" sz="2200" dirty="0">
                <a:solidFill>
                  <a:srgbClr val="FF0000"/>
                </a:solidFill>
                <a:latin typeface="+mj-lt"/>
              </a:rPr>
              <a:t>Myth 3:</a:t>
            </a:r>
            <a:r>
              <a:rPr lang="en-US" altLang="zh-TW" sz="2200" dirty="0">
                <a:latin typeface="+mj-lt"/>
              </a:rPr>
              <a:t> The working program is the only deliverable work product for a successful project.</a:t>
            </a:r>
            <a:br>
              <a:rPr lang="en-US" altLang="zh-TW" sz="2200" dirty="0">
                <a:latin typeface="+mj-lt"/>
              </a:rPr>
            </a:br>
            <a:endParaRPr lang="en-US" altLang="zh-TW" sz="2200" dirty="0">
              <a:latin typeface="+mj-lt"/>
            </a:endParaRPr>
          </a:p>
          <a:p>
            <a:pPr>
              <a:lnSpc>
                <a:spcPct val="90000"/>
              </a:lnSpc>
            </a:pPr>
            <a:r>
              <a:rPr lang="en-US" altLang="zh-TW" sz="2200" dirty="0">
                <a:solidFill>
                  <a:srgbClr val="FF0000"/>
                </a:solidFill>
                <a:latin typeface="+mj-lt"/>
              </a:rPr>
              <a:t>Myth 4:</a:t>
            </a:r>
            <a:r>
              <a:rPr lang="en-US" altLang="zh-TW" sz="2200" i="1" dirty="0">
                <a:latin typeface="+mj-lt"/>
              </a:rPr>
              <a:t> </a:t>
            </a:r>
            <a:r>
              <a:rPr lang="en-US" altLang="zh-TW" sz="2200" dirty="0">
                <a:latin typeface="+mj-lt"/>
              </a:rPr>
              <a:t>Software engineering will make us </a:t>
            </a:r>
            <a:r>
              <a:rPr lang="en-US" altLang="zh-TW" sz="2200">
                <a:latin typeface="+mj-lt"/>
              </a:rPr>
              <a:t>create very large </a:t>
            </a:r>
            <a:r>
              <a:rPr lang="en-US" altLang="zh-TW" sz="2200" dirty="0">
                <a:latin typeface="+mj-lt"/>
              </a:rPr>
              <a:t>and unnecessary documentation, invariably slowing us down.</a:t>
            </a:r>
            <a:endParaRPr lang="zh-TW" altLang="en-US" sz="2200" dirty="0">
              <a:latin typeface="+mj-lt"/>
            </a:endParaRPr>
          </a:p>
          <a:p>
            <a:pPr>
              <a:defRPr/>
            </a:pPr>
            <a:endParaRPr lang="en-US" altLang="zh-TW" sz="2200" dirty="0">
              <a:solidFill>
                <a:srgbClr val="00B050"/>
              </a:solidFill>
              <a:latin typeface="+mj-lt"/>
              <a:ea typeface="PMingLiU" pitchFamily="18" charset="-120"/>
            </a:endParaRPr>
          </a:p>
        </p:txBody>
      </p:sp>
      <p:sp>
        <p:nvSpPr>
          <p:cNvPr id="6" name="Slide Number Placeholder 3"/>
          <p:cNvSpPr txBox="1">
            <a:spLocks/>
          </p:cNvSpPr>
          <p:nvPr/>
        </p:nvSpPr>
        <p:spPr>
          <a:xfrm>
            <a:off x="11665746" y="587829"/>
            <a:ext cx="425823" cy="1225165"/>
          </a:xfrm>
          <a:prstGeom prst="rect">
            <a:avLst/>
          </a:prstGeom>
        </p:spPr>
        <p:txBody>
          <a:bodyPr vert="vert270" lIns="91440" tIns="45720" rIns="91440" bIns="45720"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Slide - 13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BDEC8BA-A092-BA65-E675-604AB01E18B5}"/>
              </a:ext>
            </a:extLst>
          </p:cNvPr>
          <p:cNvSpPr txBox="1">
            <a:spLocks/>
          </p:cNvSpPr>
          <p:nvPr/>
        </p:nvSpPr>
        <p:spPr>
          <a:xfrm>
            <a:off x="11551428" y="6582157"/>
            <a:ext cx="640572" cy="2758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RM</a:t>
            </a:r>
          </a:p>
        </p:txBody>
      </p:sp>
    </p:spTree>
    <p:extLst>
      <p:ext uri="{BB962C8B-B14F-4D97-AF65-F5344CB8AC3E}">
        <p14:creationId xmlns:p14="http://schemas.microsoft.com/office/powerpoint/2010/main" val="34116846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system fails?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9631" y="2131518"/>
            <a:ext cx="11051177" cy="3474719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q"/>
            </a:pPr>
            <a:r>
              <a:rPr lang="en-GB" altLang="en-US" sz="2000" dirty="0">
                <a:latin typeface="+mj-lt"/>
              </a:rPr>
              <a:t>The system fails to meet the </a:t>
            </a:r>
            <a:r>
              <a:rPr lang="en-GB" altLang="en-US" sz="2000" dirty="0">
                <a:solidFill>
                  <a:srgbClr val="C00000"/>
                </a:solidFill>
                <a:latin typeface="+mj-lt"/>
              </a:rPr>
              <a:t>business requirements </a:t>
            </a:r>
            <a:r>
              <a:rPr lang="en-GB" altLang="en-US" sz="2000" dirty="0">
                <a:latin typeface="+mj-lt"/>
              </a:rPr>
              <a:t>for which it was developed. The system is either </a:t>
            </a:r>
            <a:r>
              <a:rPr lang="en-GB" altLang="en-US" sz="2000" dirty="0">
                <a:solidFill>
                  <a:srgbClr val="7030A0"/>
                </a:solidFill>
                <a:latin typeface="+mj-lt"/>
              </a:rPr>
              <a:t>abandoned</a:t>
            </a:r>
            <a:r>
              <a:rPr lang="en-GB" altLang="en-US" sz="2000" dirty="0">
                <a:latin typeface="+mj-lt"/>
              </a:rPr>
              <a:t> or </a:t>
            </a:r>
            <a:r>
              <a:rPr lang="en-GB" altLang="en-US" sz="2000" dirty="0">
                <a:solidFill>
                  <a:srgbClr val="7030A0"/>
                </a:solidFill>
                <a:latin typeface="+mj-lt"/>
              </a:rPr>
              <a:t>expensive adaptive maintenance </a:t>
            </a:r>
            <a:r>
              <a:rPr lang="en-GB" altLang="en-US" sz="2000" dirty="0">
                <a:latin typeface="+mj-lt"/>
              </a:rPr>
              <a:t>is undertaken.</a:t>
            </a:r>
          </a:p>
          <a:p>
            <a:pPr>
              <a:buFont typeface="Wingdings" pitchFamily="2" charset="2"/>
              <a:buChar char="q"/>
            </a:pPr>
            <a:r>
              <a:rPr lang="en-GB" altLang="en-US" sz="2000" dirty="0">
                <a:latin typeface="+mj-lt"/>
              </a:rPr>
              <a:t>There are </a:t>
            </a:r>
            <a:r>
              <a:rPr lang="en-GB" altLang="en-US" sz="2000" dirty="0">
                <a:solidFill>
                  <a:srgbClr val="C00000"/>
                </a:solidFill>
                <a:latin typeface="+mj-lt"/>
              </a:rPr>
              <a:t>performance shortcomings </a:t>
            </a:r>
            <a:r>
              <a:rPr lang="en-GB" altLang="en-US" sz="2000" dirty="0">
                <a:latin typeface="+mj-lt"/>
              </a:rPr>
              <a:t>in the system, which make it inadequate for the users’ needs. Again, it is either abandoned or amended incurring extra costs.</a:t>
            </a:r>
          </a:p>
          <a:p>
            <a:pPr>
              <a:buFont typeface="Wingdings" pitchFamily="2" charset="2"/>
              <a:buChar char="q"/>
            </a:pPr>
            <a:r>
              <a:rPr lang="en-GB" altLang="en-US" sz="2000" dirty="0">
                <a:solidFill>
                  <a:srgbClr val="C00000"/>
                </a:solidFill>
                <a:latin typeface="+mj-lt"/>
              </a:rPr>
              <a:t>Errors</a:t>
            </a:r>
            <a:r>
              <a:rPr lang="en-GB" altLang="en-US" sz="2000" dirty="0">
                <a:latin typeface="+mj-lt"/>
              </a:rPr>
              <a:t> appear in the developed system causing unexpected problems. </a:t>
            </a:r>
            <a:r>
              <a:rPr lang="en-GB" altLang="en-US" sz="2000" dirty="0">
                <a:solidFill>
                  <a:srgbClr val="C00000"/>
                </a:solidFill>
                <a:latin typeface="+mj-lt"/>
              </a:rPr>
              <a:t>Patches </a:t>
            </a:r>
            <a:r>
              <a:rPr lang="en-GB" altLang="en-US" sz="2000" dirty="0">
                <a:latin typeface="+mj-lt"/>
              </a:rPr>
              <a:t>have to be applied at extra cost.</a:t>
            </a:r>
          </a:p>
          <a:p>
            <a:pPr>
              <a:buFont typeface="Wingdings" pitchFamily="2" charset="2"/>
              <a:buChar char="q"/>
            </a:pPr>
            <a:r>
              <a:rPr lang="en-GB" altLang="en-US" sz="2000" dirty="0">
                <a:solidFill>
                  <a:srgbClr val="C00000"/>
                </a:solidFill>
                <a:latin typeface="+mj-lt"/>
              </a:rPr>
              <a:t>Users reject </a:t>
            </a:r>
            <a:r>
              <a:rPr lang="en-GB" altLang="en-US" sz="2000" dirty="0">
                <a:latin typeface="+mj-lt"/>
              </a:rPr>
              <a:t>the implemented system, lack of involvement in its development or lack of commitment to it.</a:t>
            </a:r>
          </a:p>
          <a:p>
            <a:pPr>
              <a:buFont typeface="Wingdings" pitchFamily="2" charset="2"/>
              <a:buChar char="q"/>
            </a:pPr>
            <a:r>
              <a:rPr lang="en-GB" altLang="en-US" sz="2000" dirty="0">
                <a:latin typeface="+mj-lt"/>
              </a:rPr>
              <a:t>Systems are initially accepted but over time </a:t>
            </a:r>
            <a:r>
              <a:rPr lang="en-GB" altLang="en-US" sz="2000" dirty="0">
                <a:solidFill>
                  <a:srgbClr val="C00000"/>
                </a:solidFill>
                <a:latin typeface="+mj-lt"/>
              </a:rPr>
              <a:t>become un-maintainable </a:t>
            </a:r>
            <a:r>
              <a:rPr lang="en-GB" altLang="en-US" sz="2000" dirty="0">
                <a:latin typeface="+mj-lt"/>
              </a:rPr>
              <a:t>and so pass into disuse.</a:t>
            </a:r>
            <a:endParaRPr lang="en-GB" sz="2000" dirty="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5" name="Slide Number Placeholder 3"/>
          <p:cNvSpPr txBox="1">
            <a:spLocks/>
          </p:cNvSpPr>
          <p:nvPr/>
        </p:nvSpPr>
        <p:spPr>
          <a:xfrm>
            <a:off x="11766177" y="605118"/>
            <a:ext cx="242047" cy="774419"/>
          </a:xfrm>
          <a:prstGeom prst="rect">
            <a:avLst/>
          </a:prstGeom>
        </p:spPr>
        <p:txBody>
          <a:bodyPr vert="vert270" lIns="91440" tIns="45720" rIns="91440" bIns="45720"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Slide - </a:t>
            </a:r>
            <a:fld id="{D57F1E4F-1CFF-5643-939E-217C01CDF565}" type="slidenum">
              <a:rPr kumimoji="0" lang="en-US" sz="1400" b="1" i="0" u="none" strike="noStrike" kern="1200" cap="none" spc="0" normalizeH="0" baseline="0" noProof="0" smtClean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400" b="1" i="0" u="none" strike="noStrike" kern="1200" cap="none" spc="0" normalizeH="0" baseline="0" noProof="0" dirty="0">
              <a:ln>
                <a:noFill/>
              </a:ln>
              <a:solidFill>
                <a:schemeClr val="accent2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6" name="Content Placeholder 2"/>
          <p:cNvSpPr txBox="1">
            <a:spLocks/>
          </p:cNvSpPr>
          <p:nvPr/>
        </p:nvSpPr>
        <p:spPr>
          <a:xfrm>
            <a:off x="11551428" y="6582157"/>
            <a:ext cx="640572" cy="2758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RM</a:t>
            </a:r>
          </a:p>
        </p:txBody>
      </p:sp>
    </p:spTree>
    <p:extLst>
      <p:ext uri="{BB962C8B-B14F-4D97-AF65-F5344CB8AC3E}">
        <p14:creationId xmlns:p14="http://schemas.microsoft.com/office/powerpoint/2010/main" val="29808953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0200" y="2063932"/>
            <a:ext cx="10953310" cy="2625634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US" sz="2000" dirty="0">
                <a:ea typeface="ＭＳ Ｐゴシック" pitchFamily="34" charset="-128"/>
              </a:rPr>
              <a:t>R.S. Pressman &amp; Associates, Inc. (2010). </a:t>
            </a:r>
            <a:r>
              <a:rPr lang="en-US" sz="2000" i="1" dirty="0">
                <a:ea typeface="ＭＳ Ｐゴシック" pitchFamily="34" charset="-128"/>
              </a:rPr>
              <a:t>Software Engineering: A Practitioner’s Approach.</a:t>
            </a:r>
          </a:p>
          <a:p>
            <a:pPr>
              <a:defRPr/>
            </a:pPr>
            <a:r>
              <a:rPr lang="en-US" sz="2000" dirty="0"/>
              <a:t>Kelly, J. C., </a:t>
            </a:r>
            <a:r>
              <a:rPr lang="en-US" sz="2000" dirty="0" err="1"/>
              <a:t>Sherif</a:t>
            </a:r>
            <a:r>
              <a:rPr lang="en-US" sz="2000" dirty="0"/>
              <a:t>, J. S., &amp; Hops, J. (1992). An analysis of defect densities found during software inspections. </a:t>
            </a:r>
            <a:r>
              <a:rPr lang="en-US" sz="2000" i="1" dirty="0"/>
              <a:t>Journal of Systems and Software</a:t>
            </a:r>
            <a:r>
              <a:rPr lang="en-US" sz="2000" dirty="0"/>
              <a:t>, </a:t>
            </a:r>
            <a:r>
              <a:rPr lang="en-US" sz="2000" i="1" dirty="0"/>
              <a:t>17</a:t>
            </a:r>
            <a:r>
              <a:rPr lang="en-US" sz="2000" dirty="0"/>
              <a:t>(2), 111-117.</a:t>
            </a:r>
          </a:p>
          <a:p>
            <a:pPr>
              <a:defRPr/>
            </a:pPr>
            <a:r>
              <a:rPr lang="en-US" sz="2000" dirty="0"/>
              <a:t>Bhandari, I., Halliday, M. J., </a:t>
            </a:r>
            <a:r>
              <a:rPr lang="en-US" sz="2000" dirty="0" err="1"/>
              <a:t>Chaar</a:t>
            </a:r>
            <a:r>
              <a:rPr lang="en-US" sz="2000" dirty="0"/>
              <a:t>, J., </a:t>
            </a:r>
            <a:r>
              <a:rPr lang="en-US" sz="2000" dirty="0" err="1"/>
              <a:t>Chillarege</a:t>
            </a:r>
            <a:r>
              <a:rPr lang="en-US" sz="2000" dirty="0"/>
              <a:t>, R., Jones, K., Atkinson, J. S., &amp; </a:t>
            </a:r>
            <a:r>
              <a:rPr lang="en-US" sz="2000" dirty="0" err="1"/>
              <a:t>Yonezawa</a:t>
            </a:r>
            <a:r>
              <a:rPr lang="en-US" sz="2000" dirty="0"/>
              <a:t>, M. (1994).</a:t>
            </a:r>
            <a:br>
              <a:rPr lang="en-US" sz="2000" dirty="0"/>
            </a:br>
            <a:r>
              <a:rPr lang="en-US" sz="2000" dirty="0"/>
              <a:t>In-process improvement through defect data interpretation. </a:t>
            </a:r>
            <a:r>
              <a:rPr lang="en-US" sz="2000" i="1" dirty="0"/>
              <a:t>IBM Systems Journal</a:t>
            </a:r>
            <a:r>
              <a:rPr lang="en-US" sz="2000" dirty="0"/>
              <a:t>, </a:t>
            </a:r>
            <a:r>
              <a:rPr lang="en-US" sz="2000" i="1" dirty="0"/>
              <a:t>33</a:t>
            </a:r>
            <a:r>
              <a:rPr lang="en-US" sz="2000" dirty="0"/>
              <a:t>(1), 182-214.</a:t>
            </a:r>
            <a:endParaRPr lang="en-US" sz="2000" dirty="0">
              <a:ea typeface="ＭＳ Ｐゴシック" pitchFamily="34" charset="-128"/>
            </a:endParaRPr>
          </a:p>
          <a:p>
            <a:pPr>
              <a:defRPr/>
            </a:pPr>
            <a:endParaRPr lang="en-US" altLang="zh-TW" sz="2000" dirty="0">
              <a:solidFill>
                <a:srgbClr val="00B050"/>
              </a:solidFill>
              <a:latin typeface="+mj-lt"/>
              <a:ea typeface="PMingLiU" pitchFamily="18" charset="-120"/>
            </a:endParaRPr>
          </a:p>
        </p:txBody>
      </p:sp>
      <p:sp>
        <p:nvSpPr>
          <p:cNvPr id="6" name="Slide Number Placeholder 3"/>
          <p:cNvSpPr txBox="1">
            <a:spLocks/>
          </p:cNvSpPr>
          <p:nvPr/>
        </p:nvSpPr>
        <p:spPr>
          <a:xfrm>
            <a:off x="11665746" y="587829"/>
            <a:ext cx="425823" cy="1225165"/>
          </a:xfrm>
          <a:prstGeom prst="rect">
            <a:avLst/>
          </a:prstGeom>
        </p:spPr>
        <p:txBody>
          <a:bodyPr vert="vert270" lIns="91440" tIns="45720" rIns="91440" bIns="45720" rtlCol="0" anchor="ctr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Slide - 15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5312C3B-B9B9-5739-8FF4-272BFD29E158}"/>
              </a:ext>
            </a:extLst>
          </p:cNvPr>
          <p:cNvSpPr txBox="1">
            <a:spLocks/>
          </p:cNvSpPr>
          <p:nvPr/>
        </p:nvSpPr>
        <p:spPr>
          <a:xfrm>
            <a:off x="11551428" y="6582157"/>
            <a:ext cx="640572" cy="27584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0000" lnSpcReduction="20000"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None/>
              <a:tabLst/>
              <a:defRPr/>
            </a:pPr>
            <a:r>
              <a:rPr kumimoji="0" lang="en-US" sz="38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RM</a:t>
            </a:r>
          </a:p>
        </p:txBody>
      </p:sp>
    </p:spTree>
    <p:extLst>
      <p:ext uri="{BB962C8B-B14F-4D97-AF65-F5344CB8AC3E}">
        <p14:creationId xmlns:p14="http://schemas.microsoft.com/office/powerpoint/2010/main" val="64039236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Blue">
      <a:dk1>
        <a:sysClr val="windowText" lastClr="000000"/>
      </a:dk1>
      <a:lt1>
        <a:sysClr val="window" lastClr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Dividend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7C1B08CE58D0E4DB7DCF78F42E3FEBF" ma:contentTypeVersion="3" ma:contentTypeDescription="Create a new document." ma:contentTypeScope="" ma:versionID="757dbd7693dedb3ffd0ef762adf4c17f">
  <xsd:schema xmlns:xsd="http://www.w3.org/2001/XMLSchema" xmlns:xs="http://www.w3.org/2001/XMLSchema" xmlns:p="http://schemas.microsoft.com/office/2006/metadata/properties" xmlns:ns2="76186025-a0d9-4e7f-b068-4d7f27a934af" targetNamespace="http://schemas.microsoft.com/office/2006/metadata/properties" ma:root="true" ma:fieldsID="4e47dd67fc0f33d87798bdaf03a981ee" ns2:_="">
    <xsd:import namespace="76186025-a0d9-4e7f-b068-4d7f27a934a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186025-a0d9-4e7f-b068-4d7f27a934a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AF8173B7-CFC2-43B7-88CD-B28B5E0F5A25}"/>
</file>

<file path=customXml/itemProps2.xml><?xml version="1.0" encoding="utf-8"?>
<ds:datastoreItem xmlns:ds="http://schemas.openxmlformats.org/officeDocument/2006/customXml" ds:itemID="{1E442A45-7256-445F-9761-000702145F14}"/>
</file>

<file path=customXml/itemProps3.xml><?xml version="1.0" encoding="utf-8"?>
<ds:datastoreItem xmlns:ds="http://schemas.openxmlformats.org/officeDocument/2006/customXml" ds:itemID="{8F78E800-144F-4D1A-8F2D-6743E29689FE}"/>
</file>

<file path=docProps/app.xml><?xml version="1.0" encoding="utf-8"?>
<Properties xmlns="http://schemas.openxmlformats.org/officeDocument/2006/extended-properties" xmlns:vt="http://schemas.openxmlformats.org/officeDocument/2006/docPropsVTypes">
  <TotalTime>208</TotalTime>
  <Words>1110</Words>
  <Application>Microsoft Office PowerPoint</Application>
  <PresentationFormat>Widescreen</PresentationFormat>
  <Paragraphs>132</Paragraphs>
  <Slides>15</Slides>
  <Notes>4</Notes>
  <HiddenSlides>0</HiddenSlides>
  <MMClips>0</MMClips>
  <ScaleCrop>false</ScaleCrop>
  <HeadingPairs>
    <vt:vector size="8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5" baseType="lpstr">
      <vt:lpstr>ＭＳ Ｐゴシック</vt:lpstr>
      <vt:lpstr>PMingLiU</vt:lpstr>
      <vt:lpstr>Bell MT</vt:lpstr>
      <vt:lpstr>Calibri</vt:lpstr>
      <vt:lpstr>Georgia</vt:lpstr>
      <vt:lpstr>Gill Sans MT</vt:lpstr>
      <vt:lpstr>Wingdings</vt:lpstr>
      <vt:lpstr>Wingdings 2</vt:lpstr>
      <vt:lpstr>Dividend</vt:lpstr>
      <vt:lpstr>Photo Editor Photo</vt:lpstr>
      <vt:lpstr>PowerPoint Presentation</vt:lpstr>
      <vt:lpstr>what is Software engineering?</vt:lpstr>
      <vt:lpstr>Scope of software Engineering</vt:lpstr>
      <vt:lpstr>Software characteristics</vt:lpstr>
      <vt:lpstr>Software development life cycle (SDLC)</vt:lpstr>
      <vt:lpstr>Software development life cycle (SDLC)</vt:lpstr>
      <vt:lpstr>Good &amp; bad software</vt:lpstr>
      <vt:lpstr>Faults in software development phases</vt:lpstr>
      <vt:lpstr>Cost of detection &amp; correction of a fault</vt:lpstr>
      <vt:lpstr>Software application</vt:lpstr>
      <vt:lpstr>Software Myths (management)</vt:lpstr>
      <vt:lpstr>Software Myths (client)</vt:lpstr>
      <vt:lpstr>Software Myths (professional)</vt:lpstr>
      <vt:lpstr>Why system fails?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 - Ch.01 - Software and Software Engineering</dc:title>
  <dc:subject>Software Engineering</dc:subject>
  <dc:creator>M. Mahmudul Hasan</dc:creator>
  <cp:lastModifiedBy>MEJBAH AHAMMAD</cp:lastModifiedBy>
  <cp:revision>51</cp:revision>
  <dcterms:created xsi:type="dcterms:W3CDTF">2019-05-13T08:37:20Z</dcterms:created>
  <dcterms:modified xsi:type="dcterms:W3CDTF">2026-02-07T11:06:27Z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0x010100D7C1B08CE58D0E4DB7DCF78F42E3FEBF</vt:lpwstr>
  </property>
</Properties>
</file>